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Lines removed</c:v>
                </c:pt>
              </c:strCache>
            </c:strRef>
          </c:tx>
          <c:spPr>
            <a:solidFill>
              <a:srgbClr val="2A78D6"/>
            </a:solidFill>
            <a:effectLst/>
          </c:spPr>
          <c:invertIfNegative val="0"/>
          <c:dLbls>
            <c:numFmt formatCode="#,##0" sourceLinked="0"/>
            <c:txPr>
              <a:bodyPr/>
              <a:lstStyle/>
              <a:p>
                <a:pPr>
                  <a:defRPr b="0" i="0" strike="noStrike" sz="1100" u="none">
                    <a:solidFill>
                      <a:srgbClr val="1D1D1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Same week in both sheets</c:v>
                  </c:pt>
                  <c:pt idx="1">
                    <c:v>Cancellations (netted)</c:v>
                  </c:pt>
                  <c:pt idx="2">
                    <c:v>Quantity ≤ 0</c:v>
                  </c:pt>
                  <c:pt idx="3">
                    <c:v>Price ≤ 0</c:v>
                  </c:pt>
                  <c:pt idx="4">
                    <c:v>Not a product (postage, fees)</c:v>
                  </c:pt>
                  <c:pt idx="5">
                    <c:v>No customer ID</c:v>
                  </c:pt>
                  <c:pt idx="6">
                    <c:v>Exact duplicates</c:v>
                  </c:pt>
                </c:lvl>
              </c:multiLvlStrCache>
            </c:multiLvlStrRef>
          </c:cat>
          <c:val>
            <c:numRef>
              <c:f>Sheet1!$B$2:$B$8</c:f>
              <c:numCache>
                <c:formatCode>General</c:formatCode>
                <c:ptCount val="7"/>
                <c:pt idx="0">
                  <c:v>22523</c:v>
                </c:pt>
                <c:pt idx="1">
                  <c:v>19165</c:v>
                </c:pt>
                <c:pt idx="2">
                  <c:v>3393</c:v>
                </c:pt>
                <c:pt idx="3">
                  <c:v>2636</c:v>
                </c:pt>
                <c:pt idx="4">
                  <c:v>4709</c:v>
                </c:pt>
                <c:pt idx="5">
                  <c:v>226758</c:v>
                </c:pt>
                <c:pt idx="6">
                  <c:v>11610</c:v>
                </c:pt>
              </c:numCache>
            </c:numRef>
          </c:val>
        </c:ser>
        <c:dLbls>
          <c:numFmt formatCode="#,##0" sourceLinked="0"/>
          <c:txPr>
            <a:bodyPr/>
            <a:lstStyle/>
            <a:p>
              <a:pPr>
                <a:defRPr b="0" i="0" strike="noStrike" sz="1100" u="none">
                  <a:solidFill>
                    <a:srgbClr val="1D1D1B"/>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D1D1B"/>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1/0 bought (chosen)</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Sheet1!$A$2:$A$9</c:f>
              <c:multiLvlStrCache>
                <c:ptCount val="8"/>
                <c:lvl>
                  <c:pt idx="0">
                    <c:v>10</c:v>
                  </c:pt>
                  <c:pt idx="1">
                    <c:v>20</c:v>
                  </c:pt>
                  <c:pt idx="2">
                    <c:v>30</c:v>
                  </c:pt>
                  <c:pt idx="3">
                    <c:v>50</c:v>
                  </c:pt>
                  <c:pt idx="4">
                    <c:v>70</c:v>
                  </c:pt>
                  <c:pt idx="5">
                    <c:v>100</c:v>
                  </c:pt>
                  <c:pt idx="6">
                    <c:v>150</c:v>
                  </c:pt>
                  <c:pt idx="7">
                    <c:v>200</c:v>
                  </c:pt>
                </c:lvl>
              </c:multiLvlStrCache>
            </c:multiLvlStrRef>
          </c:cat>
          <c:val>
            <c:numRef>
              <c:f>Sheet1!$B$2:$B$9</c:f>
              <c:numCache>
                <c:formatCode>General</c:formatCode>
                <c:ptCount val="8"/>
                <c:pt idx="0">
                  <c:v>0.3471725125268432</c:v>
                </c:pt>
                <c:pt idx="1">
                  <c:v>0.3679312813171081</c:v>
                </c:pt>
                <c:pt idx="2">
                  <c:v>0.39012168933428776</c:v>
                </c:pt>
                <c:pt idx="3">
                  <c:v>0.4058697208303508</c:v>
                </c:pt>
                <c:pt idx="4">
                  <c:v>0.42448103078024335</c:v>
                </c:pt>
                <c:pt idx="5">
                  <c:v>0.41660701503221187</c:v>
                </c:pt>
                <c:pt idx="6">
                  <c:v>0.41445955619183966</c:v>
                </c:pt>
                <c:pt idx="7">
                  <c:v>0.4058697208303508</c:v>
                </c:pt>
              </c:numCache>
            </c:numRef>
          </c:val>
          <c:smooth val="0"/>
        </c:ser>
        <c:ser>
          <c:idx val="1"/>
          <c:order val="1"/>
          <c:tx>
            <c:strRef>
              <c:f>Sheet1!$C$1</c:f>
              <c:strCache>
                <c:ptCount val="1"/>
                <c:pt idx="0">
                  <c:v>log(1 + units)</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Sheet1!$A$2:$A$9</c:f>
              <c:multiLvlStrCache>
                <c:ptCount val="8"/>
                <c:lvl>
                  <c:pt idx="0">
                    <c:v>10</c:v>
                  </c:pt>
                  <c:pt idx="1">
                    <c:v>20</c:v>
                  </c:pt>
                  <c:pt idx="2">
                    <c:v>30</c:v>
                  </c:pt>
                  <c:pt idx="3">
                    <c:v>50</c:v>
                  </c:pt>
                  <c:pt idx="4">
                    <c:v>70</c:v>
                  </c:pt>
                  <c:pt idx="5">
                    <c:v>100</c:v>
                  </c:pt>
                  <c:pt idx="6">
                    <c:v>150</c:v>
                  </c:pt>
                  <c:pt idx="7">
                    <c:v>200</c:v>
                  </c:pt>
                </c:lvl>
              </c:multiLvlStrCache>
            </c:multiLvlStrRef>
          </c:cat>
          <c:val>
            <c:numRef>
              <c:f>Sheet1!$C$2:$C$9</c:f>
              <c:numCache>
                <c:formatCode>General</c:formatCode>
                <c:ptCount val="8"/>
                <c:pt idx="0">
                  <c:v>0.3178239083750895</c:v>
                </c:pt>
                <c:pt idx="1">
                  <c:v>0.3443092340730136</c:v>
                </c:pt>
                <c:pt idx="2">
                  <c:v>0.3693629205440229</c:v>
                </c:pt>
                <c:pt idx="3">
                  <c:v>0.37294201861130993</c:v>
                </c:pt>
                <c:pt idx="4">
                  <c:v>0.38869005010737295</c:v>
                </c:pt>
                <c:pt idx="5">
                  <c:v>0.39727988546886184</c:v>
                </c:pt>
                <c:pt idx="6">
                  <c:v>0.3822476735862563</c:v>
                </c:pt>
                <c:pt idx="7">
                  <c:v>0.35790980672870437</c:v>
                </c:pt>
              </c:numCache>
            </c:numRef>
          </c:val>
          <c:smooth val="0"/>
        </c:ser>
        <c:ser>
          <c:idx val="2"/>
          <c:order val="2"/>
          <c:tx>
            <c:strRef>
              <c:f>Sheet1!$D$1</c:f>
              <c:strCache>
                <c:ptCount val="1"/>
                <c:pt idx="0">
                  <c:v>Raw units</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Sheet1!$A$2:$A$9</c:f>
              <c:multiLvlStrCache>
                <c:ptCount val="8"/>
                <c:lvl>
                  <c:pt idx="0">
                    <c:v>10</c:v>
                  </c:pt>
                  <c:pt idx="1">
                    <c:v>20</c:v>
                  </c:pt>
                  <c:pt idx="2">
                    <c:v>30</c:v>
                  </c:pt>
                  <c:pt idx="3">
                    <c:v>50</c:v>
                  </c:pt>
                  <c:pt idx="4">
                    <c:v>70</c:v>
                  </c:pt>
                  <c:pt idx="5">
                    <c:v>100</c:v>
                  </c:pt>
                  <c:pt idx="6">
                    <c:v>150</c:v>
                  </c:pt>
                  <c:pt idx="7">
                    <c:v>200</c:v>
                  </c:pt>
                </c:lvl>
              </c:multiLvlStrCache>
            </c:multiLvlStrRef>
          </c:cat>
          <c:val>
            <c:numRef>
              <c:f>Sheet1!$D$2:$D$9</c:f>
              <c:numCache>
                <c:formatCode>General</c:formatCode>
                <c:ptCount val="8"/>
                <c:pt idx="0">
                  <c:v>0.1889763779527559</c:v>
                </c:pt>
                <c:pt idx="1">
                  <c:v>0.17752326413743735</c:v>
                </c:pt>
                <c:pt idx="2">
                  <c:v>0.1968503937007874</c:v>
                </c:pt>
                <c:pt idx="3">
                  <c:v>0.20901932712956334</c:v>
                </c:pt>
                <c:pt idx="4">
                  <c:v>0.23622047244094488</c:v>
                </c:pt>
                <c:pt idx="5">
                  <c:v>0.22619899785254116</c:v>
                </c:pt>
                <c:pt idx="6">
                  <c:v>0.25053686471009307</c:v>
                </c:pt>
                <c:pt idx="7">
                  <c:v>0.24982104509663564</c:v>
                </c:pt>
              </c:numCache>
            </c:numRef>
          </c:val>
          <c:smooth val="0"/>
        </c:ser>
        <c:ser>
          <c:idx val="3"/>
          <c:order val="3"/>
          <c:tx>
            <c:strRef>
              <c:f>Sheet1!$E$1</c:f>
              <c:strCache>
                <c:ptCount val="1"/>
                <c:pt idx="0">
                  <c:v>Best sellers</c:v>
                </c:pt>
              </c:strCache>
            </c:strRef>
          </c:tx>
          <c:spPr>
            <a:solidFill>
              <a:srgbClr val="898781"/>
            </a:solidFill>
            <a:ln w="25400" cap="flat">
              <a:solidFill>
                <a:srgbClr val="8987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898781"/>
              </a:solidFill>
              <a:ln w="9525" cap="flat">
                <a:solidFill>
                  <a:srgbClr val="898781"/>
                </a:solidFill>
                <a:prstDash val="solid"/>
                <a:round/>
              </a:ln>
              <a:effectLst/>
            </c:spPr>
          </c:marker>
          <c:cat>
            <c:multiLvlStrRef>
              <c:f>Sheet1!$A$2:$A$9</c:f>
              <c:multiLvlStrCache>
                <c:ptCount val="8"/>
                <c:lvl>
                  <c:pt idx="0">
                    <c:v>10</c:v>
                  </c:pt>
                  <c:pt idx="1">
                    <c:v>20</c:v>
                  </c:pt>
                  <c:pt idx="2">
                    <c:v>30</c:v>
                  </c:pt>
                  <c:pt idx="3">
                    <c:v>50</c:v>
                  </c:pt>
                  <c:pt idx="4">
                    <c:v>70</c:v>
                  </c:pt>
                  <c:pt idx="5">
                    <c:v>100</c:v>
                  </c:pt>
                  <c:pt idx="6">
                    <c:v>150</c:v>
                  </c:pt>
                  <c:pt idx="7">
                    <c:v>200</c:v>
                  </c:pt>
                </c:lvl>
              </c:multiLvlStrCache>
            </c:multiLvlStrRef>
          </c:cat>
          <c:val>
            <c:numRef>
              <c:f>Sheet1!$E$2:$E$9</c:f>
              <c:numCache>
                <c:formatCode>General</c:formatCode>
                <c:ptCount val="8"/>
                <c:pt idx="0">
                  <c:v>0.25554760200429494</c:v>
                </c:pt>
                <c:pt idx="1">
                  <c:v>0.25554760200429494</c:v>
                </c:pt>
                <c:pt idx="2">
                  <c:v>0.25554760200429494</c:v>
                </c:pt>
                <c:pt idx="3">
                  <c:v>0.25554760200429494</c:v>
                </c:pt>
                <c:pt idx="4">
                  <c:v>0.25554760200429494</c:v>
                </c:pt>
                <c:pt idx="5">
                  <c:v>0.25554760200429494</c:v>
                </c:pt>
                <c:pt idx="6">
                  <c:v>0.25554760200429494</c:v>
                </c:pt>
                <c:pt idx="7">
                  <c:v>0.25554760200429494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5A55"/>
                    </a:solidFill>
                    <a:latin typeface="Arial"/>
                  </a:defRPr>
                </a:pPr>
                <a:r>
                  <a:rPr sz="1100" b="0" i="0" u="none" strike="noStrike">
                    <a:solidFill>
                      <a:srgbClr val="5B5A55"/>
                    </a:solidFill>
                    <a:latin typeface="Arial"/>
                  </a:rPr>
                  <a:t>k (components kept)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A55"/>
                </a:solidFill>
                <a:latin typeface="Arial"/>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A55"/>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D1D1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Our model</c:v>
                </c:pt>
              </c:strCache>
            </c:strRef>
          </c:tx>
          <c:spPr>
            <a:solidFill>
              <a:srgbClr val="2A78D6"/>
            </a:solidFill>
            <a:effectLst/>
          </c:spPr>
          <c:invertIfNegative val="0"/>
          <c:dLbls>
            <c:numFmt formatCode="0.0%" sourceLinked="0"/>
            <c:txPr>
              <a:bodyPr/>
              <a:lstStyle/>
              <a:p>
                <a:pPr>
                  <a:defRPr b="0" i="0" strike="noStrike" sz="1300" u="none">
                    <a:solidFill>
                      <a:srgbClr val="1D1D1B"/>
                    </a:solidFill>
                    <a:latin typeface="Arial"/>
                  </a:defRPr>
                </a:pPr>
              </a:p>
            </c:txPr>
            <c:showLegendKey val="0"/>
            <c:showVal val="1"/>
            <c:showCatName val="0"/>
            <c:showSerName val="0"/>
            <c:showPercent val="0"/>
            <c:showBubbleSize val="0"/>
            <c:showLeaderLines val="0"/>
          </c:dLbls>
          <c:cat>
            <c:multiLvlStrRef>
              <c:f>Sheet1!$A$2:$A$2</c:f>
              <c:multiLvlStrCache>
                <c:ptCount val="1"/>
                <c:lvl>
                  <c:pt idx="0">
                    <c:v>9 Oct to 9 Dec 2011</c:v>
                  </c:pt>
                </c:lvl>
              </c:multiLvlStrCache>
            </c:multiLvlStrRef>
          </c:cat>
          <c:val>
            <c:numRef>
              <c:f>Sheet1!$B$2:$B$2</c:f>
              <c:numCache>
                <c:formatCode>General</c:formatCode>
                <c:ptCount val="1"/>
                <c:pt idx="0">
                  <c:v>0.40409879138202837</c:v>
                </c:pt>
              </c:numCache>
            </c:numRef>
          </c:val>
        </c:ser>
        <c:ser>
          <c:idx val="1"/>
          <c:order val="1"/>
          <c:tx>
            <c:strRef>
              <c:f>Sheet1!$C$1</c:f>
              <c:strCache>
                <c:ptCount val="1"/>
                <c:pt idx="0">
                  <c:v>Best sellers</c:v>
                </c:pt>
              </c:strCache>
            </c:strRef>
          </c:tx>
          <c:spPr>
            <a:solidFill>
              <a:srgbClr val="898781"/>
            </a:solidFill>
            <a:effectLst/>
          </c:spPr>
          <c:invertIfNegative val="0"/>
          <c:dLbls>
            <c:numFmt formatCode="0.0%" sourceLinked="0"/>
            <c:txPr>
              <a:bodyPr/>
              <a:lstStyle/>
              <a:p>
                <a:pPr>
                  <a:defRPr b="0" i="0" strike="noStrike" sz="1300" u="none">
                    <a:solidFill>
                      <a:srgbClr val="1D1D1B"/>
                    </a:solidFill>
                    <a:latin typeface="Arial"/>
                  </a:defRPr>
                </a:pPr>
              </a:p>
            </c:txPr>
            <c:showLegendKey val="0"/>
            <c:showVal val="1"/>
            <c:showCatName val="0"/>
            <c:showSerName val="0"/>
            <c:showPercent val="0"/>
            <c:showBubbleSize val="0"/>
            <c:showLeaderLines val="0"/>
          </c:dLbls>
          <c:cat>
            <c:multiLvlStrRef>
              <c:f>Sheet1!$A$2:$A$2</c:f>
              <c:multiLvlStrCache>
                <c:ptCount val="1"/>
                <c:lvl>
                  <c:pt idx="0">
                    <c:v>9 Oct to 9 Dec 2011</c:v>
                  </c:pt>
                </c:lvl>
              </c:multiLvlStrCache>
            </c:multiLvlStrRef>
          </c:cat>
          <c:val>
            <c:numRef>
              <c:f>Sheet1!$C$2:$C$2</c:f>
              <c:numCache>
                <c:formatCode>General</c:formatCode>
                <c:ptCount val="1"/>
                <c:pt idx="0">
                  <c:v>0.26904887020493956</c:v>
                </c:pt>
              </c:numCache>
            </c:numRef>
          </c:val>
        </c:ser>
        <c:ser>
          <c:idx val="2"/>
          <c:order val="2"/>
          <c:tx>
            <c:strRef>
              <c:f>Sheet1!$D$1</c:f>
              <c:strCache>
                <c:ptCount val="1"/>
                <c:pt idx="0">
                  <c:v>Brief's cosine rule</c:v>
                </c:pt>
              </c:strCache>
            </c:strRef>
          </c:tx>
          <c:spPr>
            <a:solidFill>
              <a:srgbClr val="C3C2B7"/>
            </a:solidFill>
            <a:effectLst/>
          </c:spPr>
          <c:invertIfNegative val="0"/>
          <c:dLbls>
            <c:numFmt formatCode="0.0%" sourceLinked="0"/>
            <c:txPr>
              <a:bodyPr/>
              <a:lstStyle/>
              <a:p>
                <a:pPr>
                  <a:defRPr b="0" i="0" strike="noStrike" sz="1300" u="none">
                    <a:solidFill>
                      <a:srgbClr val="1D1D1B"/>
                    </a:solidFill>
                    <a:latin typeface="Arial"/>
                  </a:defRPr>
                </a:pPr>
              </a:p>
            </c:txPr>
            <c:showLegendKey val="0"/>
            <c:showVal val="1"/>
            <c:showCatName val="0"/>
            <c:showSerName val="0"/>
            <c:showPercent val="0"/>
            <c:showBubbleSize val="0"/>
            <c:showLeaderLines val="0"/>
          </c:dLbls>
          <c:cat>
            <c:multiLvlStrRef>
              <c:f>Sheet1!$A$2:$A$2</c:f>
              <c:multiLvlStrCache>
                <c:ptCount val="1"/>
                <c:lvl>
                  <c:pt idx="0">
                    <c:v>9 Oct to 9 Dec 2011</c:v>
                  </c:pt>
                </c:lvl>
              </c:multiLvlStrCache>
            </c:multiLvlStrRef>
          </c:cat>
          <c:val>
            <c:numRef>
              <c:f>Sheet1!$D$2:$D$2</c:f>
              <c:numCache>
                <c:formatCode>General</c:formatCode>
                <c:ptCount val="1"/>
                <c:pt idx="0">
                  <c:v>0.24540199684708355</c:v>
                </c:pt>
              </c:numCache>
            </c:numRef>
          </c:val>
        </c:ser>
        <c:dLbls>
          <c:numFmt formatCode="0.0%" sourceLinked="0"/>
          <c:txPr>
            <a:bodyPr/>
            <a:lstStyle/>
            <a:p>
              <a:pPr>
                <a:defRPr b="0" i="0" strike="noStrike" sz="1300" u="none">
                  <a:solidFill>
                    <a:srgbClr val="1D1D1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A55"/>
                </a:solidFill>
                <a:latin typeface="Arial"/>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9525" cap="flat">
              <a:solidFill>
                <a:srgbClr val="E1E0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5A55"/>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solidFill>
                <a:srgbClr val="1D1D1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Tung, and I did both roles on this project: the data engineering and the modelling. Sarah asked for two things before Q4 planning: a faster 'customers who bought this also bought' box that beats best sellers, and one simple picture of our customer groups for marketing. I'll show what we built, what it costs, and how we know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detail, the answer. We set four measurable targets on day one, and all four are met. The stored model is 31 times smaller than the table the old job builds. The whole nightly job runs in under a second. On purchases the model never saw, it beats best sellers by 13.5 points. And we found four customer groups marketing can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file has 1.07 million lines. Two things are easy to get wrong here. First, the two yearly sheets overlap by a week, so a plain concat double-counts it. Second, deleting cancellation lines still leaves the original order counted as a purchase, so I subtract cancelled units instead. Most removed lines have no customer ID. The test set is the last two months, and only products the customer never bought before, so we measure discovery, not repeat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truncated SVD before fitting anything, because it works on the sparse table directly and gives product and customer factors in one fit. Then I ran PCA on the same matrix and k. They agree almost exactly: the average customer that PCA subtracts is under 5% of the matrix, because 98% of cells are zero. One of my predictions was wrong: I expected PCA's first component to be a contrast between kinds of shops, but in both methods it is simply how much a customer buys. Centring only hurts if you do it by hand: 493 megabytes.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settings had to be chosen: k, what goes in each cell, and how to score products. To keep the test honest I repeated the split inside the training data and chose everything there. A plain 'bought it or not' flag beat counting units, and 70 components was the smallest k close to the best. The scoring rule in the brief, cosine similarity, lost to best sellers at every k, because it normalises away popularity. Using dot products, which is the same as rebuilding the customer's row, keeps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after every choice was fixed did I score the test period once. 40 percent of test customers bought at least one of their ten suggestions, against 27 percent for the best sellers they hadn't bought. That's 13.5 points, with a bootstrap interval from about 11 to 16. The brief's cosine rule would have lost. And the suggestions look sensible: people who buy the white hanging heart get other hanging hearts and heart decor.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marketing, the map uses the model's first two components, reshaped so the axes read as how much a shop buys and what it buys. Four groups come out: big regular wholesalers, home-decor shops, children's gift shops, which have the most overseas buyers, and one-off small buyers. Each holds at least 10 percent of customers, and no two share a distinctive product, so each can get its own campaign. No customer IDs appear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risks: new customers and new products get no personal suggestions, so they should see best sellers. We tested on the Christmas peak, so the monthly check matters. Next, I'd run a four-week live test on product pages against best sellers, and schedule the nightly job. Everything is in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8229600" y="914400"/>
            <a:ext cx="310896" cy="310896"/>
          </a:xfrm>
          <a:prstGeom prst="ellipse">
            <a:avLst/>
          </a:prstGeom>
          <a:solidFill>
            <a:srgbClr val="C8102E">
              <a:alpha val="15000"/>
            </a:srgbClr>
          </a:solidFill>
          <a:ln/>
        </p:spPr>
      </p:sp>
      <p:sp>
        <p:nvSpPr>
          <p:cNvPr id="3" name="Shape 1"/>
          <p:cNvSpPr/>
          <p:nvPr/>
        </p:nvSpPr>
        <p:spPr>
          <a:xfrm>
            <a:off x="8229600" y="2011680"/>
            <a:ext cx="310896" cy="310896"/>
          </a:xfrm>
          <a:prstGeom prst="ellipse">
            <a:avLst/>
          </a:prstGeom>
          <a:solidFill>
            <a:srgbClr val="C8102E">
              <a:alpha val="15000"/>
            </a:srgbClr>
          </a:solidFill>
          <a:ln/>
        </p:spPr>
      </p:sp>
      <p:sp>
        <p:nvSpPr>
          <p:cNvPr id="4" name="Shape 2"/>
          <p:cNvSpPr/>
          <p:nvPr/>
        </p:nvSpPr>
        <p:spPr>
          <a:xfrm>
            <a:off x="8229600" y="3108960"/>
            <a:ext cx="310896" cy="310896"/>
          </a:xfrm>
          <a:prstGeom prst="ellipse">
            <a:avLst/>
          </a:prstGeom>
          <a:solidFill>
            <a:srgbClr val="C8102E">
              <a:alpha val="15000"/>
            </a:srgbClr>
          </a:solidFill>
          <a:ln/>
        </p:spPr>
      </p:sp>
      <p:sp>
        <p:nvSpPr>
          <p:cNvPr id="5" name="Shape 3"/>
          <p:cNvSpPr/>
          <p:nvPr/>
        </p:nvSpPr>
        <p:spPr>
          <a:xfrm>
            <a:off x="8229600" y="4206240"/>
            <a:ext cx="310896" cy="310896"/>
          </a:xfrm>
          <a:prstGeom prst="ellipse">
            <a:avLst/>
          </a:prstGeom>
          <a:solidFill>
            <a:srgbClr val="C8102E">
              <a:alpha val="15000"/>
            </a:srgbClr>
          </a:solidFill>
          <a:ln/>
        </p:spPr>
      </p:sp>
      <p:sp>
        <p:nvSpPr>
          <p:cNvPr id="6" name="Shape 4"/>
          <p:cNvSpPr/>
          <p:nvPr/>
        </p:nvSpPr>
        <p:spPr>
          <a:xfrm>
            <a:off x="8229600" y="5303520"/>
            <a:ext cx="310896" cy="310896"/>
          </a:xfrm>
          <a:prstGeom prst="ellipse">
            <a:avLst/>
          </a:prstGeom>
          <a:solidFill>
            <a:srgbClr val="C8102E">
              <a:alpha val="15000"/>
            </a:srgbClr>
          </a:solidFill>
          <a:ln/>
        </p:spPr>
      </p:sp>
      <p:sp>
        <p:nvSpPr>
          <p:cNvPr id="7" name="Shape 5"/>
          <p:cNvSpPr/>
          <p:nvPr/>
        </p:nvSpPr>
        <p:spPr>
          <a:xfrm>
            <a:off x="8778240" y="1463040"/>
            <a:ext cx="310896" cy="310896"/>
          </a:xfrm>
          <a:prstGeom prst="ellipse">
            <a:avLst/>
          </a:prstGeom>
          <a:solidFill>
            <a:srgbClr val="C8102E">
              <a:alpha val="20000"/>
            </a:srgbClr>
          </a:solidFill>
          <a:ln/>
        </p:spPr>
      </p:sp>
      <p:sp>
        <p:nvSpPr>
          <p:cNvPr id="8" name="Shape 6"/>
          <p:cNvSpPr/>
          <p:nvPr/>
        </p:nvSpPr>
        <p:spPr>
          <a:xfrm>
            <a:off x="8778240" y="2560320"/>
            <a:ext cx="310896" cy="310896"/>
          </a:xfrm>
          <a:prstGeom prst="ellipse">
            <a:avLst/>
          </a:prstGeom>
          <a:solidFill>
            <a:srgbClr val="C8102E">
              <a:alpha val="20000"/>
            </a:srgbClr>
          </a:solidFill>
          <a:ln/>
        </p:spPr>
      </p:sp>
      <p:sp>
        <p:nvSpPr>
          <p:cNvPr id="9" name="Shape 7"/>
          <p:cNvSpPr/>
          <p:nvPr/>
        </p:nvSpPr>
        <p:spPr>
          <a:xfrm>
            <a:off x="8778240" y="3657600"/>
            <a:ext cx="310896" cy="310896"/>
          </a:xfrm>
          <a:prstGeom prst="ellipse">
            <a:avLst/>
          </a:prstGeom>
          <a:solidFill>
            <a:srgbClr val="C8102E">
              <a:alpha val="20000"/>
            </a:srgbClr>
          </a:solidFill>
          <a:ln/>
        </p:spPr>
      </p:sp>
      <p:sp>
        <p:nvSpPr>
          <p:cNvPr id="10" name="Shape 8"/>
          <p:cNvSpPr/>
          <p:nvPr/>
        </p:nvSpPr>
        <p:spPr>
          <a:xfrm>
            <a:off x="8778240" y="4754880"/>
            <a:ext cx="310896" cy="310896"/>
          </a:xfrm>
          <a:prstGeom prst="ellipse">
            <a:avLst/>
          </a:prstGeom>
          <a:solidFill>
            <a:srgbClr val="C8102E">
              <a:alpha val="20000"/>
            </a:srgbClr>
          </a:solidFill>
          <a:ln/>
        </p:spPr>
      </p:sp>
      <p:sp>
        <p:nvSpPr>
          <p:cNvPr id="11" name="Shape 9"/>
          <p:cNvSpPr/>
          <p:nvPr/>
        </p:nvSpPr>
        <p:spPr>
          <a:xfrm>
            <a:off x="9326880" y="914400"/>
            <a:ext cx="310896" cy="310896"/>
          </a:xfrm>
          <a:prstGeom prst="ellipse">
            <a:avLst/>
          </a:prstGeom>
          <a:solidFill>
            <a:srgbClr val="C8102E">
              <a:alpha val="34000"/>
            </a:srgbClr>
          </a:solidFill>
          <a:ln/>
        </p:spPr>
      </p:sp>
      <p:sp>
        <p:nvSpPr>
          <p:cNvPr id="12" name="Shape 10"/>
          <p:cNvSpPr/>
          <p:nvPr/>
        </p:nvSpPr>
        <p:spPr>
          <a:xfrm>
            <a:off x="9326880" y="2011680"/>
            <a:ext cx="310896" cy="310896"/>
          </a:xfrm>
          <a:prstGeom prst="ellipse">
            <a:avLst/>
          </a:prstGeom>
          <a:solidFill>
            <a:srgbClr val="C8102E">
              <a:alpha val="34000"/>
            </a:srgbClr>
          </a:solidFill>
          <a:ln/>
        </p:spPr>
      </p:sp>
      <p:sp>
        <p:nvSpPr>
          <p:cNvPr id="13" name="Shape 11"/>
          <p:cNvSpPr/>
          <p:nvPr/>
        </p:nvSpPr>
        <p:spPr>
          <a:xfrm>
            <a:off x="9326880" y="3108960"/>
            <a:ext cx="310896" cy="310896"/>
          </a:xfrm>
          <a:prstGeom prst="ellipse">
            <a:avLst/>
          </a:prstGeom>
          <a:solidFill>
            <a:srgbClr val="C8102E">
              <a:alpha val="34000"/>
            </a:srgbClr>
          </a:solidFill>
          <a:ln/>
        </p:spPr>
      </p:sp>
      <p:sp>
        <p:nvSpPr>
          <p:cNvPr id="14" name="Shape 12"/>
          <p:cNvSpPr/>
          <p:nvPr/>
        </p:nvSpPr>
        <p:spPr>
          <a:xfrm>
            <a:off x="9326880" y="4206240"/>
            <a:ext cx="310896" cy="310896"/>
          </a:xfrm>
          <a:prstGeom prst="ellipse">
            <a:avLst/>
          </a:prstGeom>
          <a:solidFill>
            <a:srgbClr val="C8102E">
              <a:alpha val="34000"/>
            </a:srgbClr>
          </a:solidFill>
          <a:ln/>
        </p:spPr>
      </p:sp>
      <p:sp>
        <p:nvSpPr>
          <p:cNvPr id="15" name="Shape 13"/>
          <p:cNvSpPr/>
          <p:nvPr/>
        </p:nvSpPr>
        <p:spPr>
          <a:xfrm>
            <a:off x="9326880" y="5303520"/>
            <a:ext cx="310896" cy="310896"/>
          </a:xfrm>
          <a:prstGeom prst="ellipse">
            <a:avLst/>
          </a:prstGeom>
          <a:solidFill>
            <a:srgbClr val="C8102E">
              <a:alpha val="34000"/>
            </a:srgbClr>
          </a:solidFill>
          <a:ln/>
        </p:spPr>
      </p:sp>
      <p:sp>
        <p:nvSpPr>
          <p:cNvPr id="16" name="Shape 14"/>
          <p:cNvSpPr/>
          <p:nvPr/>
        </p:nvSpPr>
        <p:spPr>
          <a:xfrm>
            <a:off x="9875520" y="1463040"/>
            <a:ext cx="310896" cy="310896"/>
          </a:xfrm>
          <a:prstGeom prst="ellipse">
            <a:avLst/>
          </a:prstGeom>
          <a:solidFill>
            <a:srgbClr val="C8102E">
              <a:alpha val="48000"/>
            </a:srgbClr>
          </a:solidFill>
          <a:ln/>
        </p:spPr>
      </p:sp>
      <p:sp>
        <p:nvSpPr>
          <p:cNvPr id="17" name="Shape 15"/>
          <p:cNvSpPr/>
          <p:nvPr/>
        </p:nvSpPr>
        <p:spPr>
          <a:xfrm>
            <a:off x="9875520" y="2560320"/>
            <a:ext cx="310896" cy="310896"/>
          </a:xfrm>
          <a:prstGeom prst="ellipse">
            <a:avLst/>
          </a:prstGeom>
          <a:solidFill>
            <a:srgbClr val="C8102E">
              <a:alpha val="48000"/>
            </a:srgbClr>
          </a:solidFill>
          <a:ln/>
        </p:spPr>
      </p:sp>
      <p:sp>
        <p:nvSpPr>
          <p:cNvPr id="18" name="Shape 16"/>
          <p:cNvSpPr/>
          <p:nvPr/>
        </p:nvSpPr>
        <p:spPr>
          <a:xfrm>
            <a:off x="9875520" y="3657600"/>
            <a:ext cx="310896" cy="310896"/>
          </a:xfrm>
          <a:prstGeom prst="ellipse">
            <a:avLst/>
          </a:prstGeom>
          <a:solidFill>
            <a:srgbClr val="C8102E">
              <a:alpha val="48000"/>
            </a:srgbClr>
          </a:solidFill>
          <a:ln/>
        </p:spPr>
      </p:sp>
      <p:sp>
        <p:nvSpPr>
          <p:cNvPr id="19" name="Shape 17"/>
          <p:cNvSpPr/>
          <p:nvPr/>
        </p:nvSpPr>
        <p:spPr>
          <a:xfrm>
            <a:off x="9875520" y="4754880"/>
            <a:ext cx="310896" cy="310896"/>
          </a:xfrm>
          <a:prstGeom prst="ellipse">
            <a:avLst/>
          </a:prstGeom>
          <a:solidFill>
            <a:srgbClr val="C8102E">
              <a:alpha val="48000"/>
            </a:srgbClr>
          </a:solidFill>
          <a:ln/>
        </p:spPr>
      </p:sp>
      <p:sp>
        <p:nvSpPr>
          <p:cNvPr id="20" name="Shape 18"/>
          <p:cNvSpPr/>
          <p:nvPr/>
        </p:nvSpPr>
        <p:spPr>
          <a:xfrm>
            <a:off x="10424160" y="914400"/>
            <a:ext cx="310896" cy="310896"/>
          </a:xfrm>
          <a:prstGeom prst="ellipse">
            <a:avLst/>
          </a:prstGeom>
          <a:solidFill>
            <a:srgbClr val="C8102E">
              <a:alpha val="62000"/>
            </a:srgbClr>
          </a:solidFill>
          <a:ln/>
        </p:spPr>
      </p:sp>
      <p:sp>
        <p:nvSpPr>
          <p:cNvPr id="21" name="Shape 19"/>
          <p:cNvSpPr/>
          <p:nvPr/>
        </p:nvSpPr>
        <p:spPr>
          <a:xfrm>
            <a:off x="10424160" y="2011680"/>
            <a:ext cx="310896" cy="310896"/>
          </a:xfrm>
          <a:prstGeom prst="ellipse">
            <a:avLst/>
          </a:prstGeom>
          <a:solidFill>
            <a:srgbClr val="C8102E">
              <a:alpha val="62000"/>
            </a:srgbClr>
          </a:solidFill>
          <a:ln/>
        </p:spPr>
      </p:sp>
      <p:sp>
        <p:nvSpPr>
          <p:cNvPr id="22" name="Shape 20"/>
          <p:cNvSpPr/>
          <p:nvPr/>
        </p:nvSpPr>
        <p:spPr>
          <a:xfrm>
            <a:off x="10424160" y="3108960"/>
            <a:ext cx="310896" cy="310896"/>
          </a:xfrm>
          <a:prstGeom prst="ellipse">
            <a:avLst/>
          </a:prstGeom>
          <a:solidFill>
            <a:srgbClr val="C8102E">
              <a:alpha val="62000"/>
            </a:srgbClr>
          </a:solidFill>
          <a:ln/>
        </p:spPr>
      </p:sp>
      <p:sp>
        <p:nvSpPr>
          <p:cNvPr id="23" name="Shape 21"/>
          <p:cNvSpPr/>
          <p:nvPr/>
        </p:nvSpPr>
        <p:spPr>
          <a:xfrm>
            <a:off x="10424160" y="4206240"/>
            <a:ext cx="310896" cy="310896"/>
          </a:xfrm>
          <a:prstGeom prst="ellipse">
            <a:avLst/>
          </a:prstGeom>
          <a:solidFill>
            <a:srgbClr val="C8102E">
              <a:alpha val="62000"/>
            </a:srgbClr>
          </a:solidFill>
          <a:ln/>
        </p:spPr>
      </p:sp>
      <p:sp>
        <p:nvSpPr>
          <p:cNvPr id="24" name="Shape 22"/>
          <p:cNvSpPr/>
          <p:nvPr/>
        </p:nvSpPr>
        <p:spPr>
          <a:xfrm>
            <a:off x="10424160" y="5303520"/>
            <a:ext cx="310896" cy="310896"/>
          </a:xfrm>
          <a:prstGeom prst="ellipse">
            <a:avLst/>
          </a:prstGeom>
          <a:solidFill>
            <a:srgbClr val="C8102E">
              <a:alpha val="62000"/>
            </a:srgbClr>
          </a:solidFill>
          <a:ln/>
        </p:spPr>
      </p:sp>
      <p:sp>
        <p:nvSpPr>
          <p:cNvPr id="25" name="Shape 23"/>
          <p:cNvSpPr/>
          <p:nvPr/>
        </p:nvSpPr>
        <p:spPr>
          <a:xfrm>
            <a:off x="10972800" y="1463040"/>
            <a:ext cx="310896" cy="310896"/>
          </a:xfrm>
          <a:prstGeom prst="ellipse">
            <a:avLst/>
          </a:prstGeom>
          <a:solidFill>
            <a:srgbClr val="C8102E">
              <a:alpha val="76000"/>
            </a:srgbClr>
          </a:solidFill>
          <a:ln/>
        </p:spPr>
      </p:sp>
      <p:sp>
        <p:nvSpPr>
          <p:cNvPr id="26" name="Shape 24"/>
          <p:cNvSpPr/>
          <p:nvPr/>
        </p:nvSpPr>
        <p:spPr>
          <a:xfrm>
            <a:off x="10972800" y="2560320"/>
            <a:ext cx="310896" cy="310896"/>
          </a:xfrm>
          <a:prstGeom prst="ellipse">
            <a:avLst/>
          </a:prstGeom>
          <a:solidFill>
            <a:srgbClr val="C8102E">
              <a:alpha val="76000"/>
            </a:srgbClr>
          </a:solidFill>
          <a:ln/>
        </p:spPr>
      </p:sp>
      <p:sp>
        <p:nvSpPr>
          <p:cNvPr id="27" name="Shape 25"/>
          <p:cNvSpPr/>
          <p:nvPr/>
        </p:nvSpPr>
        <p:spPr>
          <a:xfrm>
            <a:off x="10972800" y="3657600"/>
            <a:ext cx="310896" cy="310896"/>
          </a:xfrm>
          <a:prstGeom prst="ellipse">
            <a:avLst/>
          </a:prstGeom>
          <a:solidFill>
            <a:srgbClr val="C8102E">
              <a:alpha val="76000"/>
            </a:srgbClr>
          </a:solidFill>
          <a:ln/>
        </p:spPr>
      </p:sp>
      <p:sp>
        <p:nvSpPr>
          <p:cNvPr id="28" name="Shape 26"/>
          <p:cNvSpPr/>
          <p:nvPr/>
        </p:nvSpPr>
        <p:spPr>
          <a:xfrm>
            <a:off x="10972800" y="4754880"/>
            <a:ext cx="310896" cy="310896"/>
          </a:xfrm>
          <a:prstGeom prst="ellipse">
            <a:avLst/>
          </a:prstGeom>
          <a:solidFill>
            <a:srgbClr val="C8102E">
              <a:alpha val="76000"/>
            </a:srgbClr>
          </a:solidFill>
          <a:ln/>
        </p:spPr>
      </p:sp>
      <p:sp>
        <p:nvSpPr>
          <p:cNvPr id="29" name="Shape 27"/>
          <p:cNvSpPr/>
          <p:nvPr/>
        </p:nvSpPr>
        <p:spPr>
          <a:xfrm>
            <a:off x="11521440" y="914400"/>
            <a:ext cx="310896" cy="310896"/>
          </a:xfrm>
          <a:prstGeom prst="ellipse">
            <a:avLst/>
          </a:prstGeom>
          <a:solidFill>
            <a:srgbClr val="C8102E">
              <a:alpha val="90000"/>
            </a:srgbClr>
          </a:solidFill>
          <a:ln/>
        </p:spPr>
      </p:sp>
      <p:sp>
        <p:nvSpPr>
          <p:cNvPr id="30" name="Shape 28"/>
          <p:cNvSpPr/>
          <p:nvPr/>
        </p:nvSpPr>
        <p:spPr>
          <a:xfrm>
            <a:off x="11521440" y="2011680"/>
            <a:ext cx="310896" cy="310896"/>
          </a:xfrm>
          <a:prstGeom prst="ellipse">
            <a:avLst/>
          </a:prstGeom>
          <a:solidFill>
            <a:srgbClr val="C8102E">
              <a:alpha val="90000"/>
            </a:srgbClr>
          </a:solidFill>
          <a:ln/>
        </p:spPr>
      </p:sp>
      <p:sp>
        <p:nvSpPr>
          <p:cNvPr id="31" name="Shape 29"/>
          <p:cNvSpPr/>
          <p:nvPr/>
        </p:nvSpPr>
        <p:spPr>
          <a:xfrm>
            <a:off x="11521440" y="3108960"/>
            <a:ext cx="310896" cy="310896"/>
          </a:xfrm>
          <a:prstGeom prst="ellipse">
            <a:avLst/>
          </a:prstGeom>
          <a:solidFill>
            <a:srgbClr val="C8102E">
              <a:alpha val="90000"/>
            </a:srgbClr>
          </a:solidFill>
          <a:ln/>
        </p:spPr>
      </p:sp>
      <p:sp>
        <p:nvSpPr>
          <p:cNvPr id="32" name="Shape 30"/>
          <p:cNvSpPr/>
          <p:nvPr/>
        </p:nvSpPr>
        <p:spPr>
          <a:xfrm>
            <a:off x="11521440" y="4206240"/>
            <a:ext cx="310896" cy="310896"/>
          </a:xfrm>
          <a:prstGeom prst="ellipse">
            <a:avLst/>
          </a:prstGeom>
          <a:solidFill>
            <a:srgbClr val="C8102E">
              <a:alpha val="90000"/>
            </a:srgbClr>
          </a:solidFill>
          <a:ln/>
        </p:spPr>
      </p:sp>
      <p:sp>
        <p:nvSpPr>
          <p:cNvPr id="33" name="Shape 31"/>
          <p:cNvSpPr/>
          <p:nvPr/>
        </p:nvSpPr>
        <p:spPr>
          <a:xfrm>
            <a:off x="11521440" y="5303520"/>
            <a:ext cx="310896" cy="310896"/>
          </a:xfrm>
          <a:prstGeom prst="ellipse">
            <a:avLst/>
          </a:prstGeom>
          <a:solidFill>
            <a:srgbClr val="C8102E">
              <a:alpha val="90000"/>
            </a:srgbClr>
          </a:solidFill>
          <a:ln/>
        </p:spPr>
      </p:sp>
      <p:sp>
        <p:nvSpPr>
          <p:cNvPr id="34" name="Text 32"/>
          <p:cNvSpPr txBox="1"/>
          <p:nvPr/>
        </p:nvSpPr>
        <p:spPr>
          <a:xfrm>
            <a:off x="731520" y="1417320"/>
            <a:ext cx="6858000" cy="365760"/>
          </a:xfrm>
          <a:prstGeom prst="rect">
            <a:avLst/>
          </a:prstGeom>
          <a:noFill/>
          <a:ln/>
        </p:spPr>
        <p:txBody>
          <a:bodyPr wrap="square" lIns="0" tIns="0" rIns="0" bIns="0" rtlCol="0" anchor="ctr"/>
          <a:lstStyle/>
          <a:p>
            <a:pPr indent="0" marL="0">
              <a:buNone/>
            </a:pPr>
            <a:r>
              <a:rPr lang="en-US" sz="1300" b="1" spc="300" kern="0" dirty="0">
                <a:solidFill>
                  <a:srgbClr val="C9D3E6"/>
                </a:solidFill>
                <a:latin typeface="Calibri" pitchFamily="34" charset="0"/>
                <a:ea typeface="Calibri" pitchFamily="34" charset="-122"/>
                <a:cs typeface="Calibri" pitchFamily="34" charset="-120"/>
              </a:rPr>
              <a:t>DS 5020 MINI-PROJECT</a:t>
            </a:r>
            <a:endParaRPr lang="en-US" sz="1300" dirty="0"/>
          </a:p>
        </p:txBody>
      </p:sp>
      <p:sp>
        <p:nvSpPr>
          <p:cNvPr id="35" name="Text 33"/>
          <p:cNvSpPr txBox="1"/>
          <p:nvPr/>
        </p:nvSpPr>
        <p:spPr>
          <a:xfrm>
            <a:off x="731520" y="1828800"/>
            <a:ext cx="731520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Customers Like You</a:t>
            </a:r>
            <a:endParaRPr lang="en-US" sz="5400" dirty="0"/>
          </a:p>
        </p:txBody>
      </p:sp>
      <p:sp>
        <p:nvSpPr>
          <p:cNvPr id="36" name="Text 34"/>
          <p:cNvSpPr txBox="1"/>
          <p:nvPr/>
        </p:nvSpPr>
        <p:spPr>
          <a:xfrm>
            <a:off x="731520" y="2971800"/>
            <a:ext cx="6949440" cy="1005840"/>
          </a:xfrm>
          <a:prstGeom prst="rect">
            <a:avLst/>
          </a:prstGeom>
          <a:noFill/>
          <a:ln/>
        </p:spPr>
        <p:txBody>
          <a:bodyPr wrap="square" lIns="0" tIns="0" rIns="0" bIns="0" rtlCol="0" anchor="t"/>
          <a:lstStyle/>
          <a:p>
            <a:pPr indent="0" marL="0">
              <a:buNone/>
            </a:pPr>
            <a:r>
              <a:rPr lang="en-US" sz="2200" dirty="0">
                <a:solidFill>
                  <a:srgbClr val="C9D3E6"/>
                </a:solidFill>
                <a:latin typeface="Calibri" pitchFamily="34" charset="0"/>
                <a:ea typeface="Calibri" pitchFamily="34" charset="-122"/>
                <a:cs typeface="Calibri" pitchFamily="34" charset="-120"/>
              </a:rPr>
              <a:t>A smaller, faster “also bought” box and four customer groups for GiftLane</a:t>
            </a:r>
            <a:endParaRPr lang="en-US" sz="2200" dirty="0"/>
          </a:p>
        </p:txBody>
      </p:sp>
      <p:sp>
        <p:nvSpPr>
          <p:cNvPr id="37" name="Text 35"/>
          <p:cNvSpPr txBox="1"/>
          <p:nvPr/>
        </p:nvSpPr>
        <p:spPr>
          <a:xfrm>
            <a:off x="731520" y="5257800"/>
            <a:ext cx="694944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Tung Nguyen</a:t>
            </a:r>
            <a:endParaRPr lang="en-US" sz="1500" dirty="0"/>
          </a:p>
          <a:p>
            <a:pPr indent="0" marL="0">
              <a:buNone/>
            </a:pPr>
            <a:r>
              <a:rPr lang="en-US" sz="1500" dirty="0">
                <a:solidFill>
                  <a:srgbClr val="C9D3E6"/>
                </a:solidFill>
                <a:latin typeface="Calibri" pitchFamily="34" charset="0"/>
                <a:ea typeface="Calibri" pitchFamily="34" charset="-122"/>
                <a:cs typeface="Calibri" pitchFamily="34" charset="-120"/>
              </a:rPr>
              <a:t>Data Engineer and ML Engineer  ·  12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8872" cy="118872"/>
          </a:xfrm>
          <a:prstGeom prst="ellipse">
            <a:avLst/>
          </a:prstGeom>
          <a:solidFill>
            <a:srgbClr val="C8102E"/>
          </a:solidFill>
          <a:ln/>
        </p:spPr>
      </p:sp>
      <p:sp>
        <p:nvSpPr>
          <p:cNvPr id="3" name="Text 1"/>
          <p:cNvSpPr txBox="1"/>
          <p:nvPr/>
        </p:nvSpPr>
        <p:spPr>
          <a:xfrm>
            <a:off x="749808" y="384048"/>
            <a:ext cx="8229600" cy="292608"/>
          </a:xfrm>
          <a:prstGeom prst="rect">
            <a:avLst/>
          </a:prstGeom>
          <a:noFill/>
          <a:ln/>
        </p:spPr>
        <p:txBody>
          <a:bodyPr wrap="square" lIns="0" tIns="0" rIns="0" bIns="0" rtlCol="0" anchor="ctr"/>
          <a:lstStyle/>
          <a:p>
            <a:pPr indent="0" marL="0">
              <a:buNone/>
            </a:pPr>
            <a:r>
              <a:rPr lang="en-US" sz="1100" b="1" spc="200" kern="0" dirty="0">
                <a:solidFill>
                  <a:srgbClr val="5B5A55"/>
                </a:solidFill>
                <a:latin typeface="Calibri" pitchFamily="34" charset="0"/>
                <a:ea typeface="Calibri" pitchFamily="34" charset="-122"/>
                <a:cs typeface="Calibri" pitchFamily="34" charset="-120"/>
              </a:rPr>
              <a:t>SARAH'S REQUEST, MEASURED</a:t>
            </a:r>
            <a:endParaRPr lang="en-US" sz="1100" dirty="0"/>
          </a:p>
        </p:txBody>
      </p:sp>
      <p:sp>
        <p:nvSpPr>
          <p:cNvPr id="4" name="Text 2"/>
          <p:cNvSpPr txBox="1"/>
          <p:nvPr/>
        </p:nvSpPr>
        <p:spPr>
          <a:xfrm>
            <a:off x="548640" y="713232"/>
            <a:ext cx="11094415" cy="777240"/>
          </a:xfrm>
          <a:prstGeom prst="rect">
            <a:avLst/>
          </a:prstGeom>
          <a:noFill/>
          <a:ln/>
        </p:spPr>
        <p:txBody>
          <a:bodyPr wrap="square" lIns="0" tIns="0" rIns="0" bIns="0" rtlCol="0" anchor="t"/>
          <a:lstStyle/>
          <a:p>
            <a:pPr indent="0" marL="0">
              <a:buNone/>
            </a:pPr>
            <a:r>
              <a:rPr lang="en-US" sz="3200" b="1" dirty="0">
                <a:solidFill>
                  <a:srgbClr val="1D1D1B"/>
                </a:solidFill>
                <a:latin typeface="Cambria" pitchFamily="34" charset="0"/>
                <a:ea typeface="Cambria" pitchFamily="34" charset="-122"/>
                <a:cs typeface="Cambria" pitchFamily="34" charset="-120"/>
              </a:rPr>
              <a:t>All four success targets are met</a:t>
            </a:r>
            <a:endParaRPr lang="en-US" sz="3200" dirty="0"/>
          </a:p>
        </p:txBody>
      </p:sp>
      <p:sp>
        <p:nvSpPr>
          <p:cNvPr id="5" name="Shape 3"/>
          <p:cNvSpPr/>
          <p:nvPr/>
        </p:nvSpPr>
        <p:spPr>
          <a:xfrm>
            <a:off x="548640" y="1828800"/>
            <a:ext cx="2567864" cy="3840480"/>
          </a:xfrm>
          <a:prstGeom prst="rect">
            <a:avLst/>
          </a:prstGeom>
          <a:solidFill>
            <a:srgbClr val="F3F5F9"/>
          </a:solidFill>
          <a:ln/>
        </p:spPr>
      </p:sp>
      <p:sp>
        <p:nvSpPr>
          <p:cNvPr id="6" name="Text 4"/>
          <p:cNvSpPr txBox="1"/>
          <p:nvPr/>
        </p:nvSpPr>
        <p:spPr>
          <a:xfrm>
            <a:off x="822960" y="2103120"/>
            <a:ext cx="2019224" cy="868680"/>
          </a:xfrm>
          <a:prstGeom prst="rect">
            <a:avLst/>
          </a:prstGeom>
          <a:noFill/>
          <a:ln/>
        </p:spPr>
        <p:txBody>
          <a:bodyPr wrap="square" lIns="0" tIns="0" rIns="0" bIns="0" rtlCol="0" anchor="ctr"/>
          <a:lstStyle/>
          <a:p>
            <a:pPr indent="0" marL="0">
              <a:buNone/>
            </a:pPr>
            <a:r>
              <a:rPr lang="en-US" sz="4400" b="1" dirty="0">
                <a:solidFill>
                  <a:srgbClr val="1D1D1B"/>
                </a:solidFill>
                <a:latin typeface="Cambria" pitchFamily="34" charset="0"/>
                <a:ea typeface="Cambria" pitchFamily="34" charset="-122"/>
                <a:cs typeface="Cambria" pitchFamily="34" charset="-120"/>
              </a:rPr>
              <a:t>31×</a:t>
            </a:r>
            <a:endParaRPr lang="en-US" sz="4400" dirty="0"/>
          </a:p>
        </p:txBody>
      </p:sp>
      <p:sp>
        <p:nvSpPr>
          <p:cNvPr id="7" name="Text 5"/>
          <p:cNvSpPr txBox="1"/>
          <p:nvPr/>
        </p:nvSpPr>
        <p:spPr>
          <a:xfrm>
            <a:off x="822960" y="2971800"/>
            <a:ext cx="2019224" cy="411480"/>
          </a:xfrm>
          <a:prstGeom prst="rect">
            <a:avLst/>
          </a:prstGeom>
          <a:noFill/>
          <a:ln/>
        </p:spPr>
        <p:txBody>
          <a:bodyPr wrap="square" lIns="0" tIns="0" rIns="0" bIns="0" rtlCol="0" anchor="ctr"/>
          <a:lstStyle/>
          <a:p>
            <a:pPr indent="0" marL="0">
              <a:buNone/>
            </a:pPr>
            <a:r>
              <a:rPr lang="en-US" sz="1600" b="1" dirty="0">
                <a:solidFill>
                  <a:srgbClr val="1D1D1B"/>
                </a:solidFill>
                <a:latin typeface="Calibri" pitchFamily="34" charset="0"/>
                <a:ea typeface="Calibri" pitchFamily="34" charset="-122"/>
                <a:cs typeface="Calibri" pitchFamily="34" charset="-120"/>
              </a:rPr>
              <a:t>smaller stored model</a:t>
            </a:r>
            <a:endParaRPr lang="en-US" sz="1600" dirty="0"/>
          </a:p>
        </p:txBody>
      </p:sp>
      <p:sp>
        <p:nvSpPr>
          <p:cNvPr id="8" name="Text 6"/>
          <p:cNvSpPr txBox="1"/>
          <p:nvPr/>
        </p:nvSpPr>
        <p:spPr>
          <a:xfrm>
            <a:off x="822960" y="3474720"/>
            <a:ext cx="2019224" cy="1234440"/>
          </a:xfrm>
          <a:prstGeom prst="rect">
            <a:avLst/>
          </a:prstGeom>
          <a:noFill/>
          <a:ln/>
        </p:spPr>
        <p:txBody>
          <a:bodyPr wrap="square" lIns="0" tIns="0" rIns="0" bIns="0" rtlCol="0" anchor="t"/>
          <a:lstStyle/>
          <a:p>
            <a:pPr indent="0" marL="0">
              <a:buNone/>
            </a:pPr>
            <a:r>
              <a:rPr lang="en-US" sz="1300" dirty="0">
                <a:solidFill>
                  <a:srgbClr val="5B5A55"/>
                </a:solidFill>
                <a:latin typeface="Calibri" pitchFamily="34" charset="0"/>
                <a:ea typeface="Calibri" pitchFamily="34" charset="-122"/>
                <a:cs typeface="Calibri" pitchFamily="34" charset="-120"/>
              </a:rPr>
              <a:t>5.1 MB of factors instead of the 160.6 MB customer × product table</a:t>
            </a:r>
            <a:endParaRPr lang="en-US" sz="1300" dirty="0"/>
          </a:p>
        </p:txBody>
      </p:sp>
      <p:sp>
        <p:nvSpPr>
          <p:cNvPr id="9" name="Text 7"/>
          <p:cNvSpPr txBox="1"/>
          <p:nvPr/>
        </p:nvSpPr>
        <p:spPr>
          <a:xfrm>
            <a:off x="822960" y="4800600"/>
            <a:ext cx="2019224" cy="685800"/>
          </a:xfrm>
          <a:prstGeom prst="rect">
            <a:avLst/>
          </a:prstGeom>
          <a:noFill/>
          <a:ln/>
        </p:spPr>
        <p:txBody>
          <a:bodyPr wrap="square" lIns="0" tIns="0" rIns="0" bIns="0" rtlCol="0" anchor="b"/>
          <a:lstStyle/>
          <a:p>
            <a:pPr indent="0" marL="0">
              <a:buNone/>
            </a:pPr>
            <a:r>
              <a:rPr lang="en-US" sz="1200" dirty="0">
                <a:solidFill>
                  <a:srgbClr val="5B5A55"/>
                </a:solidFill>
                <a:latin typeface="Calibri" pitchFamily="34" charset="0"/>
                <a:ea typeface="Calibri" pitchFamily="34" charset="-122"/>
                <a:cs typeface="Calibri" pitchFamily="34" charset="-120"/>
              </a:rPr>
              <a:t>Target: at least 10× smaller</a:t>
            </a:r>
            <a:endParaRPr lang="en-US" sz="1200" dirty="0"/>
          </a:p>
          <a:p>
            <a:pPr indent="0" marL="0">
              <a:buNone/>
            </a:pPr>
            <a:r>
              <a:rPr lang="en-US" sz="1200" b="1" dirty="0">
                <a:solidFill>
                  <a:srgbClr val="006300"/>
                </a:solidFill>
                <a:latin typeface="Calibri" pitchFamily="34" charset="0"/>
                <a:ea typeface="Calibri" pitchFamily="34" charset="-122"/>
                <a:cs typeface="Calibri" pitchFamily="34" charset="-120"/>
              </a:rPr>
              <a:t>✓ Met</a:t>
            </a:r>
            <a:endParaRPr lang="en-US" sz="1200" dirty="0"/>
          </a:p>
        </p:txBody>
      </p:sp>
      <p:sp>
        <p:nvSpPr>
          <p:cNvPr id="10" name="Shape 8"/>
          <p:cNvSpPr/>
          <p:nvPr/>
        </p:nvSpPr>
        <p:spPr>
          <a:xfrm>
            <a:off x="3390824" y="1828800"/>
            <a:ext cx="2567864" cy="3840480"/>
          </a:xfrm>
          <a:prstGeom prst="rect">
            <a:avLst/>
          </a:prstGeom>
          <a:solidFill>
            <a:srgbClr val="F3F5F9"/>
          </a:solidFill>
          <a:ln/>
        </p:spPr>
      </p:sp>
      <p:sp>
        <p:nvSpPr>
          <p:cNvPr id="11" name="Text 9"/>
          <p:cNvSpPr txBox="1"/>
          <p:nvPr/>
        </p:nvSpPr>
        <p:spPr>
          <a:xfrm>
            <a:off x="3665144" y="2103120"/>
            <a:ext cx="2019224" cy="868680"/>
          </a:xfrm>
          <a:prstGeom prst="rect">
            <a:avLst/>
          </a:prstGeom>
          <a:noFill/>
          <a:ln/>
        </p:spPr>
        <p:txBody>
          <a:bodyPr wrap="square" lIns="0" tIns="0" rIns="0" bIns="0" rtlCol="0" anchor="ctr"/>
          <a:lstStyle/>
          <a:p>
            <a:pPr indent="0" marL="0">
              <a:buNone/>
            </a:pPr>
            <a:r>
              <a:rPr lang="en-US" sz="4400" b="1" dirty="0">
                <a:solidFill>
                  <a:srgbClr val="1D1D1B"/>
                </a:solidFill>
                <a:latin typeface="Cambria" pitchFamily="34" charset="0"/>
                <a:ea typeface="Cambria" pitchFamily="34" charset="-122"/>
                <a:cs typeface="Cambria" pitchFamily="34" charset="-120"/>
              </a:rPr>
              <a:t>0.7 s</a:t>
            </a:r>
            <a:endParaRPr lang="en-US" sz="4400" dirty="0"/>
          </a:p>
        </p:txBody>
      </p:sp>
      <p:sp>
        <p:nvSpPr>
          <p:cNvPr id="12" name="Text 10"/>
          <p:cNvSpPr txBox="1"/>
          <p:nvPr/>
        </p:nvSpPr>
        <p:spPr>
          <a:xfrm>
            <a:off x="3665144" y="2971800"/>
            <a:ext cx="2019224" cy="411480"/>
          </a:xfrm>
          <a:prstGeom prst="rect">
            <a:avLst/>
          </a:prstGeom>
          <a:noFill/>
          <a:ln/>
        </p:spPr>
        <p:txBody>
          <a:bodyPr wrap="square" lIns="0" tIns="0" rIns="0" bIns="0" rtlCol="0" anchor="ctr"/>
          <a:lstStyle/>
          <a:p>
            <a:pPr indent="0" marL="0">
              <a:buNone/>
            </a:pPr>
            <a:r>
              <a:rPr lang="en-US" sz="1600" b="1" dirty="0">
                <a:solidFill>
                  <a:srgbClr val="1D1D1B"/>
                </a:solidFill>
                <a:latin typeface="Calibri" pitchFamily="34" charset="0"/>
                <a:ea typeface="Calibri" pitchFamily="34" charset="-122"/>
                <a:cs typeface="Calibri" pitchFamily="34" charset="-120"/>
              </a:rPr>
              <a:t>whole nightly job</a:t>
            </a:r>
            <a:endParaRPr lang="en-US" sz="1600" dirty="0"/>
          </a:p>
        </p:txBody>
      </p:sp>
      <p:sp>
        <p:nvSpPr>
          <p:cNvPr id="13" name="Text 11"/>
          <p:cNvSpPr txBox="1"/>
          <p:nvPr/>
        </p:nvSpPr>
        <p:spPr>
          <a:xfrm>
            <a:off x="3665144" y="3474720"/>
            <a:ext cx="2019224" cy="1234440"/>
          </a:xfrm>
          <a:prstGeom prst="rect">
            <a:avLst/>
          </a:prstGeom>
          <a:noFill/>
          <a:ln/>
        </p:spPr>
        <p:txBody>
          <a:bodyPr wrap="square" lIns="0" tIns="0" rIns="0" bIns="0" rtlCol="0" anchor="t"/>
          <a:lstStyle/>
          <a:p>
            <a:pPr indent="0" marL="0">
              <a:buNone/>
            </a:pPr>
            <a:r>
              <a:rPr lang="en-US" sz="1300" dirty="0">
                <a:solidFill>
                  <a:srgbClr val="5B5A55"/>
                </a:solidFill>
                <a:latin typeface="Calibri" pitchFamily="34" charset="0"/>
                <a:ea typeface="Calibri" pitchFamily="34" charset="-122"/>
                <a:cs typeface="Calibri" pitchFamily="34" charset="-120"/>
              </a:rPr>
              <a:t>Refit, an “also bought” list for 3,680 products, 10 suggestions for 5,456 customers</a:t>
            </a:r>
            <a:endParaRPr lang="en-US" sz="1300" dirty="0"/>
          </a:p>
        </p:txBody>
      </p:sp>
      <p:sp>
        <p:nvSpPr>
          <p:cNvPr id="14" name="Text 12"/>
          <p:cNvSpPr txBox="1"/>
          <p:nvPr/>
        </p:nvSpPr>
        <p:spPr>
          <a:xfrm>
            <a:off x="3665144" y="4800600"/>
            <a:ext cx="2019224" cy="685800"/>
          </a:xfrm>
          <a:prstGeom prst="rect">
            <a:avLst/>
          </a:prstGeom>
          <a:noFill/>
          <a:ln/>
        </p:spPr>
        <p:txBody>
          <a:bodyPr wrap="square" lIns="0" tIns="0" rIns="0" bIns="0" rtlCol="0" anchor="b"/>
          <a:lstStyle/>
          <a:p>
            <a:pPr indent="0" marL="0">
              <a:buNone/>
            </a:pPr>
            <a:r>
              <a:rPr lang="en-US" sz="1200" dirty="0">
                <a:solidFill>
                  <a:srgbClr val="5B5A55"/>
                </a:solidFill>
                <a:latin typeface="Calibri" pitchFamily="34" charset="0"/>
                <a:ea typeface="Calibri" pitchFamily="34" charset="-122"/>
                <a:cs typeface="Calibri" pitchFamily="34" charset="-120"/>
              </a:rPr>
              <a:t>Target: under 1 minute</a:t>
            </a:r>
            <a:endParaRPr lang="en-US" sz="1200" dirty="0"/>
          </a:p>
          <a:p>
            <a:pPr indent="0" marL="0">
              <a:buNone/>
            </a:pPr>
            <a:r>
              <a:rPr lang="en-US" sz="1200" b="1" dirty="0">
                <a:solidFill>
                  <a:srgbClr val="006300"/>
                </a:solidFill>
                <a:latin typeface="Calibri" pitchFamily="34" charset="0"/>
                <a:ea typeface="Calibri" pitchFamily="34" charset="-122"/>
                <a:cs typeface="Calibri" pitchFamily="34" charset="-120"/>
              </a:rPr>
              <a:t>✓ Met</a:t>
            </a:r>
            <a:endParaRPr lang="en-US" sz="1200" dirty="0"/>
          </a:p>
        </p:txBody>
      </p:sp>
      <p:sp>
        <p:nvSpPr>
          <p:cNvPr id="15" name="Shape 13"/>
          <p:cNvSpPr/>
          <p:nvPr/>
        </p:nvSpPr>
        <p:spPr>
          <a:xfrm>
            <a:off x="6233008" y="1828800"/>
            <a:ext cx="2567864" cy="3840480"/>
          </a:xfrm>
          <a:prstGeom prst="rect">
            <a:avLst/>
          </a:prstGeom>
          <a:solidFill>
            <a:srgbClr val="F3F5F9"/>
          </a:solidFill>
          <a:ln/>
        </p:spPr>
      </p:sp>
      <p:sp>
        <p:nvSpPr>
          <p:cNvPr id="16" name="Text 14"/>
          <p:cNvSpPr txBox="1"/>
          <p:nvPr/>
        </p:nvSpPr>
        <p:spPr>
          <a:xfrm>
            <a:off x="6507328" y="2103120"/>
            <a:ext cx="2019224" cy="868680"/>
          </a:xfrm>
          <a:prstGeom prst="rect">
            <a:avLst/>
          </a:prstGeom>
          <a:noFill/>
          <a:ln/>
        </p:spPr>
        <p:txBody>
          <a:bodyPr wrap="square" lIns="0" tIns="0" rIns="0" bIns="0" rtlCol="0" anchor="ctr"/>
          <a:lstStyle/>
          <a:p>
            <a:pPr indent="0" marL="0">
              <a:buNone/>
            </a:pPr>
            <a:r>
              <a:rPr lang="en-US" sz="4400" b="1" dirty="0">
                <a:solidFill>
                  <a:srgbClr val="1D1D1B"/>
                </a:solidFill>
                <a:latin typeface="Cambria" pitchFamily="34" charset="0"/>
                <a:ea typeface="Cambria" pitchFamily="34" charset="-122"/>
                <a:cs typeface="Cambria" pitchFamily="34" charset="-120"/>
              </a:rPr>
              <a:t>+13.5</a:t>
            </a:r>
            <a:endParaRPr lang="en-US" sz="4400" dirty="0"/>
          </a:p>
        </p:txBody>
      </p:sp>
      <p:sp>
        <p:nvSpPr>
          <p:cNvPr id="17" name="Text 15"/>
          <p:cNvSpPr txBox="1"/>
          <p:nvPr/>
        </p:nvSpPr>
        <p:spPr>
          <a:xfrm>
            <a:off x="6507328" y="2971800"/>
            <a:ext cx="2019224" cy="411480"/>
          </a:xfrm>
          <a:prstGeom prst="rect">
            <a:avLst/>
          </a:prstGeom>
          <a:noFill/>
          <a:ln/>
        </p:spPr>
        <p:txBody>
          <a:bodyPr wrap="square" lIns="0" tIns="0" rIns="0" bIns="0" rtlCol="0" anchor="ctr"/>
          <a:lstStyle/>
          <a:p>
            <a:pPr indent="0" marL="0">
              <a:buNone/>
            </a:pPr>
            <a:r>
              <a:rPr lang="en-US" sz="1600" b="1" dirty="0">
                <a:solidFill>
                  <a:srgbClr val="1D1D1B"/>
                </a:solidFill>
                <a:latin typeface="Calibri" pitchFamily="34" charset="0"/>
                <a:ea typeface="Calibri" pitchFamily="34" charset="-122"/>
                <a:cs typeface="Calibri" pitchFamily="34" charset="-120"/>
              </a:rPr>
              <a:t>points over baseline</a:t>
            </a:r>
            <a:endParaRPr lang="en-US" sz="1600" dirty="0"/>
          </a:p>
        </p:txBody>
      </p:sp>
      <p:sp>
        <p:nvSpPr>
          <p:cNvPr id="18" name="Text 16"/>
          <p:cNvSpPr txBox="1"/>
          <p:nvPr/>
        </p:nvSpPr>
        <p:spPr>
          <a:xfrm>
            <a:off x="6507328" y="3474720"/>
            <a:ext cx="2019224" cy="1234440"/>
          </a:xfrm>
          <a:prstGeom prst="rect">
            <a:avLst/>
          </a:prstGeom>
          <a:noFill/>
          <a:ln/>
        </p:spPr>
        <p:txBody>
          <a:bodyPr wrap="square" lIns="0" tIns="0" rIns="0" bIns="0" rtlCol="0" anchor="t"/>
          <a:lstStyle/>
          <a:p>
            <a:pPr indent="0" marL="0">
              <a:buNone/>
            </a:pPr>
            <a:r>
              <a:rPr lang="en-US" sz="1300" dirty="0">
                <a:solidFill>
                  <a:srgbClr val="5B5A55"/>
                </a:solidFill>
                <a:latin typeface="Calibri" pitchFamily="34" charset="0"/>
                <a:ea typeface="Calibri" pitchFamily="34" charset="-122"/>
                <a:cs typeface="Calibri" pitchFamily="34" charset="-120"/>
              </a:rPr>
              <a:t>40.4% hit rate at 10 against 26.9% for best sellers, on purchases the model never saw</a:t>
            </a:r>
            <a:endParaRPr lang="en-US" sz="1300" dirty="0"/>
          </a:p>
        </p:txBody>
      </p:sp>
      <p:sp>
        <p:nvSpPr>
          <p:cNvPr id="19" name="Text 17"/>
          <p:cNvSpPr txBox="1"/>
          <p:nvPr/>
        </p:nvSpPr>
        <p:spPr>
          <a:xfrm>
            <a:off x="6507328" y="4800600"/>
            <a:ext cx="2019224" cy="685800"/>
          </a:xfrm>
          <a:prstGeom prst="rect">
            <a:avLst/>
          </a:prstGeom>
          <a:noFill/>
          <a:ln/>
        </p:spPr>
        <p:txBody>
          <a:bodyPr wrap="square" lIns="0" tIns="0" rIns="0" bIns="0" rtlCol="0" anchor="b"/>
          <a:lstStyle/>
          <a:p>
            <a:pPr indent="0" marL="0">
              <a:buNone/>
            </a:pPr>
            <a:r>
              <a:rPr lang="en-US" sz="1200" dirty="0">
                <a:solidFill>
                  <a:srgbClr val="5B5A55"/>
                </a:solidFill>
                <a:latin typeface="Calibri" pitchFamily="34" charset="0"/>
                <a:ea typeface="Calibri" pitchFamily="34" charset="-122"/>
                <a:cs typeface="Calibri" pitchFamily="34" charset="-120"/>
              </a:rPr>
              <a:t>Target: at least +3 points</a:t>
            </a:r>
            <a:endParaRPr lang="en-US" sz="1200" dirty="0"/>
          </a:p>
          <a:p>
            <a:pPr indent="0" marL="0">
              <a:buNone/>
            </a:pPr>
            <a:r>
              <a:rPr lang="en-US" sz="1200" b="1" dirty="0">
                <a:solidFill>
                  <a:srgbClr val="006300"/>
                </a:solidFill>
                <a:latin typeface="Calibri" pitchFamily="34" charset="0"/>
                <a:ea typeface="Calibri" pitchFamily="34" charset="-122"/>
                <a:cs typeface="Calibri" pitchFamily="34" charset="-120"/>
              </a:rPr>
              <a:t>✓ Met</a:t>
            </a:r>
            <a:endParaRPr lang="en-US" sz="1200" dirty="0"/>
          </a:p>
        </p:txBody>
      </p:sp>
      <p:sp>
        <p:nvSpPr>
          <p:cNvPr id="20" name="Shape 18"/>
          <p:cNvSpPr/>
          <p:nvPr/>
        </p:nvSpPr>
        <p:spPr>
          <a:xfrm>
            <a:off x="9075191" y="1828800"/>
            <a:ext cx="2567864" cy="3840480"/>
          </a:xfrm>
          <a:prstGeom prst="rect">
            <a:avLst/>
          </a:prstGeom>
          <a:solidFill>
            <a:srgbClr val="F3F5F9"/>
          </a:solidFill>
          <a:ln/>
        </p:spPr>
      </p:sp>
      <p:sp>
        <p:nvSpPr>
          <p:cNvPr id="21" name="Text 19"/>
          <p:cNvSpPr txBox="1"/>
          <p:nvPr/>
        </p:nvSpPr>
        <p:spPr>
          <a:xfrm>
            <a:off x="9349511" y="2103120"/>
            <a:ext cx="2019224" cy="868680"/>
          </a:xfrm>
          <a:prstGeom prst="rect">
            <a:avLst/>
          </a:prstGeom>
          <a:noFill/>
          <a:ln/>
        </p:spPr>
        <p:txBody>
          <a:bodyPr wrap="square" lIns="0" tIns="0" rIns="0" bIns="0" rtlCol="0" anchor="ctr"/>
          <a:lstStyle/>
          <a:p>
            <a:pPr indent="0" marL="0">
              <a:buNone/>
            </a:pPr>
            <a:r>
              <a:rPr lang="en-US" sz="4400" b="1" dirty="0">
                <a:solidFill>
                  <a:srgbClr val="1D1D1B"/>
                </a:solidFill>
                <a:latin typeface="Cambria" pitchFamily="34" charset="0"/>
                <a:ea typeface="Cambria" pitchFamily="34" charset="-122"/>
                <a:cs typeface="Cambria" pitchFamily="34" charset="-120"/>
              </a:rPr>
              <a:t>4</a:t>
            </a:r>
            <a:endParaRPr lang="en-US" sz="4400" dirty="0"/>
          </a:p>
        </p:txBody>
      </p:sp>
      <p:sp>
        <p:nvSpPr>
          <p:cNvPr id="22" name="Text 20"/>
          <p:cNvSpPr txBox="1"/>
          <p:nvPr/>
        </p:nvSpPr>
        <p:spPr>
          <a:xfrm>
            <a:off x="9349511" y="2971800"/>
            <a:ext cx="2019224" cy="411480"/>
          </a:xfrm>
          <a:prstGeom prst="rect">
            <a:avLst/>
          </a:prstGeom>
          <a:noFill/>
          <a:ln/>
        </p:spPr>
        <p:txBody>
          <a:bodyPr wrap="square" lIns="0" tIns="0" rIns="0" bIns="0" rtlCol="0" anchor="ctr"/>
          <a:lstStyle/>
          <a:p>
            <a:pPr indent="0" marL="0">
              <a:buNone/>
            </a:pPr>
            <a:r>
              <a:rPr lang="en-US" sz="1600" b="1" dirty="0">
                <a:solidFill>
                  <a:srgbClr val="1D1D1B"/>
                </a:solidFill>
                <a:latin typeface="Calibri" pitchFamily="34" charset="0"/>
                <a:ea typeface="Calibri" pitchFamily="34" charset="-122"/>
                <a:cs typeface="Calibri" pitchFamily="34" charset="-120"/>
              </a:rPr>
              <a:t>customer groups</a:t>
            </a:r>
            <a:endParaRPr lang="en-US" sz="1600" dirty="0"/>
          </a:p>
        </p:txBody>
      </p:sp>
      <p:sp>
        <p:nvSpPr>
          <p:cNvPr id="23" name="Text 21"/>
          <p:cNvSpPr txBox="1"/>
          <p:nvPr/>
        </p:nvSpPr>
        <p:spPr>
          <a:xfrm>
            <a:off x="9349511" y="3474720"/>
            <a:ext cx="2019224" cy="1234440"/>
          </a:xfrm>
          <a:prstGeom prst="rect">
            <a:avLst/>
          </a:prstGeom>
          <a:noFill/>
          <a:ln/>
        </p:spPr>
        <p:txBody>
          <a:bodyPr wrap="square" lIns="0" tIns="0" rIns="0" bIns="0" rtlCol="0" anchor="t"/>
          <a:lstStyle/>
          <a:p>
            <a:pPr indent="0" marL="0">
              <a:buNone/>
            </a:pPr>
            <a:r>
              <a:rPr lang="en-US" sz="1300" dirty="0">
                <a:solidFill>
                  <a:srgbClr val="5B5A55"/>
                </a:solidFill>
                <a:latin typeface="Calibri" pitchFamily="34" charset="0"/>
                <a:ea typeface="Calibri" pitchFamily="34" charset="-122"/>
                <a:cs typeface="Calibri" pitchFamily="34" charset="-120"/>
              </a:rPr>
              <a:t>The smallest holds 10% of customers; each is named from what it buys</a:t>
            </a:r>
            <a:endParaRPr lang="en-US" sz="1300" dirty="0"/>
          </a:p>
        </p:txBody>
      </p:sp>
      <p:sp>
        <p:nvSpPr>
          <p:cNvPr id="24" name="Text 22"/>
          <p:cNvSpPr txBox="1"/>
          <p:nvPr/>
        </p:nvSpPr>
        <p:spPr>
          <a:xfrm>
            <a:off x="9349511" y="4800600"/>
            <a:ext cx="2019224" cy="685800"/>
          </a:xfrm>
          <a:prstGeom prst="rect">
            <a:avLst/>
          </a:prstGeom>
          <a:noFill/>
          <a:ln/>
        </p:spPr>
        <p:txBody>
          <a:bodyPr wrap="square" lIns="0" tIns="0" rIns="0" bIns="0" rtlCol="0" anchor="b"/>
          <a:lstStyle/>
          <a:p>
            <a:pPr indent="0" marL="0">
              <a:buNone/>
            </a:pPr>
            <a:r>
              <a:rPr lang="en-US" sz="1200" dirty="0">
                <a:solidFill>
                  <a:srgbClr val="5B5A55"/>
                </a:solidFill>
                <a:latin typeface="Calibri" pitchFamily="34" charset="0"/>
                <a:ea typeface="Calibri" pitchFamily="34" charset="-122"/>
                <a:cs typeface="Calibri" pitchFamily="34" charset="-120"/>
              </a:rPr>
              <a:t>Target: 3 to 6 nameable groups</a:t>
            </a:r>
            <a:endParaRPr lang="en-US" sz="1200" dirty="0"/>
          </a:p>
          <a:p>
            <a:pPr indent="0" marL="0">
              <a:buNone/>
            </a:pPr>
            <a:r>
              <a:rPr lang="en-US" sz="1200" b="1" dirty="0">
                <a:solidFill>
                  <a:srgbClr val="006300"/>
                </a:solidFill>
                <a:latin typeface="Calibri" pitchFamily="34" charset="0"/>
                <a:ea typeface="Calibri" pitchFamily="34" charset="-122"/>
                <a:cs typeface="Calibri" pitchFamily="34" charset="-120"/>
              </a:rPr>
              <a:t>✓ Met</a:t>
            </a:r>
            <a:endParaRPr lang="en-US" sz="1200" dirty="0"/>
          </a:p>
        </p:txBody>
      </p:sp>
      <p:sp>
        <p:nvSpPr>
          <p:cNvPr id="25" name="Text 23"/>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300" dirty="0">
                <a:solidFill>
                  <a:srgbClr val="5B5A55"/>
                </a:solidFill>
                <a:latin typeface="Calibri" pitchFamily="34" charset="0"/>
                <a:ea typeface="Calibri" pitchFamily="34" charset="-122"/>
                <a:cs typeface="Calibri" pitchFamily="34" charset="-120"/>
              </a:rPr>
              <a:t>Targets 1 to 3 answer the product-page request; target 4 answers marketing.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8872" cy="118872"/>
          </a:xfrm>
          <a:prstGeom prst="ellipse">
            <a:avLst/>
          </a:prstGeom>
          <a:solidFill>
            <a:srgbClr val="C8102E"/>
          </a:solidFill>
          <a:ln/>
        </p:spPr>
      </p:sp>
      <p:sp>
        <p:nvSpPr>
          <p:cNvPr id="3" name="Text 1"/>
          <p:cNvSpPr txBox="1"/>
          <p:nvPr/>
        </p:nvSpPr>
        <p:spPr>
          <a:xfrm>
            <a:off x="749808" y="384048"/>
            <a:ext cx="8229600" cy="292608"/>
          </a:xfrm>
          <a:prstGeom prst="rect">
            <a:avLst/>
          </a:prstGeom>
          <a:noFill/>
          <a:ln/>
        </p:spPr>
        <p:txBody>
          <a:bodyPr wrap="square" lIns="0" tIns="0" rIns="0" bIns="0" rtlCol="0" anchor="ctr"/>
          <a:lstStyle/>
          <a:p>
            <a:pPr indent="0" marL="0">
              <a:buNone/>
            </a:pPr>
            <a:r>
              <a:rPr lang="en-US" sz="1100" b="1" spc="200" kern="0" dirty="0">
                <a:solidFill>
                  <a:srgbClr val="5B5A55"/>
                </a:solidFill>
                <a:latin typeface="Calibri" pitchFamily="34" charset="0"/>
                <a:ea typeface="Calibri" pitchFamily="34" charset="-122"/>
                <a:cs typeface="Calibri" pitchFamily="34" charset="-120"/>
              </a:rPr>
              <a:t>DATA ENGINEERING</a:t>
            </a:r>
            <a:endParaRPr lang="en-US" sz="1100" dirty="0"/>
          </a:p>
        </p:txBody>
      </p:sp>
      <p:sp>
        <p:nvSpPr>
          <p:cNvPr id="4" name="Text 2"/>
          <p:cNvSpPr txBox="1"/>
          <p:nvPr/>
        </p:nvSpPr>
        <p:spPr>
          <a:xfrm>
            <a:off x="548640" y="713232"/>
            <a:ext cx="11094415" cy="777240"/>
          </a:xfrm>
          <a:prstGeom prst="rect">
            <a:avLst/>
          </a:prstGeom>
          <a:noFill/>
          <a:ln/>
        </p:spPr>
        <p:txBody>
          <a:bodyPr wrap="square" lIns="0" tIns="0" rIns="0" bIns="0" rtlCol="0" anchor="t"/>
          <a:lstStyle/>
          <a:p>
            <a:pPr indent="0" marL="0">
              <a:buNone/>
            </a:pPr>
            <a:r>
              <a:rPr lang="en-US" sz="3200" b="1" dirty="0">
                <a:solidFill>
                  <a:srgbClr val="1D1D1B"/>
                </a:solidFill>
                <a:latin typeface="Cambria" pitchFamily="34" charset="0"/>
                <a:ea typeface="Cambria" pitchFamily="34" charset="-122"/>
                <a:cs typeface="Cambria" pitchFamily="34" charset="-120"/>
              </a:rPr>
              <a:t>From 1.07 million order lines to one sparse matrix</a:t>
            </a:r>
            <a:endParaRPr lang="en-US" sz="3200" dirty="0"/>
          </a:p>
        </p:txBody>
      </p:sp>
      <p:sp>
        <p:nvSpPr>
          <p:cNvPr id="5" name="Text 3"/>
          <p:cNvSpPr txBox="1"/>
          <p:nvPr/>
        </p:nvSpPr>
        <p:spPr>
          <a:xfrm>
            <a:off x="548640" y="1691640"/>
            <a:ext cx="6217920" cy="320040"/>
          </a:xfrm>
          <a:prstGeom prst="rect">
            <a:avLst/>
          </a:prstGeom>
          <a:noFill/>
          <a:ln/>
        </p:spPr>
        <p:txBody>
          <a:bodyPr wrap="square" lIns="0" tIns="0" rIns="0" bIns="0" rtlCol="0" anchor="ctr"/>
          <a:lstStyle/>
          <a:p>
            <a:pPr indent="0" marL="0">
              <a:buNone/>
            </a:pPr>
            <a:r>
              <a:rPr lang="en-US" sz="1300" b="1" dirty="0">
                <a:solidFill>
                  <a:srgbClr val="1D1D1B"/>
                </a:solidFill>
                <a:latin typeface="Calibri" pitchFamily="34" charset="0"/>
                <a:ea typeface="Calibri" pitchFamily="34" charset="-122"/>
                <a:cs typeface="Calibri" pitchFamily="34" charset="-120"/>
              </a:rPr>
              <a:t>Lines removed by each cleaning rule, in order</a:t>
            </a:r>
            <a:endParaRPr lang="en-US" sz="1300" dirty="0"/>
          </a:p>
        </p:txBody>
      </p:sp>
      <p:graphicFrame>
        <p:nvGraphicFramePr>
          <p:cNvPr id="6" name="Chart 0" descr=""/>
          <p:cNvGraphicFramePr/>
          <p:nvPr/>
        </p:nvGraphicFramePr>
        <p:xfrm>
          <a:off x="457200" y="2011680"/>
          <a:ext cx="6309360" cy="4023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6035040"/>
            <a:ext cx="6217920" cy="320040"/>
          </a:xfrm>
          <a:prstGeom prst="rect">
            <a:avLst/>
          </a:prstGeom>
          <a:noFill/>
          <a:ln/>
        </p:spPr>
        <p:txBody>
          <a:bodyPr wrap="square" lIns="0" tIns="0" rIns="0" bIns="0" rtlCol="0" anchor="ctr"/>
          <a:lstStyle/>
          <a:p>
            <a:pPr indent="0" marL="0">
              <a:buNone/>
            </a:pPr>
            <a:r>
              <a:rPr lang="en-US" sz="1200" dirty="0">
                <a:solidFill>
                  <a:srgbClr val="5B5A55"/>
                </a:solidFill>
                <a:latin typeface="Calibri" pitchFamily="34" charset="0"/>
                <a:ea typeface="Calibri" pitchFamily="34" charset="-122"/>
                <a:cs typeface="Calibri" pitchFamily="34" charset="-120"/>
              </a:rPr>
              <a:t>776,577 clean purchase lines remain (73% of raw).</a:t>
            </a:r>
            <a:endParaRPr lang="en-US" sz="1200" dirty="0"/>
          </a:p>
        </p:txBody>
      </p:sp>
      <p:sp>
        <p:nvSpPr>
          <p:cNvPr id="8" name="Text 5"/>
          <p:cNvSpPr txBox="1"/>
          <p:nvPr/>
        </p:nvSpPr>
        <p:spPr>
          <a:xfrm>
            <a:off x="7223760" y="1737360"/>
            <a:ext cx="4419295" cy="4663440"/>
          </a:xfrm>
          <a:prstGeom prst="rect">
            <a:avLst/>
          </a:prstGeom>
          <a:noFill/>
          <a:ln/>
        </p:spPr>
        <p:txBody>
          <a:bodyPr wrap="square" lIns="0" tIns="0" rIns="0" bIns="0" rtlCol="0" anchor="t"/>
          <a:lstStyle/>
          <a:p>
            <a:pPr indent="0" marL="0">
              <a:buNone/>
            </a:pPr>
            <a:r>
              <a:rPr lang="en-US" sz="1400" b="1" dirty="0">
                <a:solidFill>
                  <a:srgbClr val="1D1D1B"/>
                </a:solidFill>
                <a:latin typeface="Calibri" pitchFamily="34" charset="0"/>
                <a:ea typeface="Calibri" pitchFamily="34" charset="-122"/>
                <a:cs typeface="Calibri" pitchFamily="34" charset="-120"/>
              </a:rPr>
              <a:t>The two yearly sheets overlap</a:t>
            </a:r>
            <a:endParaRPr lang="en-US" sz="1400" dirty="0"/>
          </a:p>
          <a:p>
            <a:pPr indent="0" marL="0">
              <a:spcAft>
                <a:spcPts val="1200"/>
              </a:spcAft>
              <a:buNone/>
            </a:pPr>
            <a:r>
              <a:rPr lang="en-US" sz="1400" dirty="0">
                <a:solidFill>
                  <a:srgbClr val="5B5A55"/>
                </a:solidFill>
                <a:latin typeface="Calibri" pitchFamily="34" charset="0"/>
                <a:ea typeface="Calibri" pitchFamily="34" charset="-122"/>
                <a:cs typeface="Calibri" pitchFamily="34" charset="-120"/>
              </a:rPr>
              <a:t>1–9 Dec 2010 is in both, line for line: 22,523 lines kept once.</a:t>
            </a:r>
            <a:endParaRPr lang="en-US" sz="1400" dirty="0"/>
          </a:p>
          <a:p>
            <a:pPr indent="0" marL="0">
              <a:buNone/>
            </a:pPr>
            <a:r>
              <a:rPr lang="en-US" sz="1400" b="1" dirty="0">
                <a:solidFill>
                  <a:srgbClr val="1D1D1B"/>
                </a:solidFill>
                <a:latin typeface="Calibri" pitchFamily="34" charset="0"/>
                <a:ea typeface="Calibri" pitchFamily="34" charset="-122"/>
                <a:cs typeface="Calibri" pitchFamily="34" charset="-120"/>
              </a:rPr>
              <a:t>Cancellations undo purchases</a:t>
            </a:r>
            <a:endParaRPr lang="en-US" sz="1400" dirty="0"/>
          </a:p>
          <a:p>
            <a:pPr indent="0" marL="0">
              <a:spcAft>
                <a:spcPts val="1200"/>
              </a:spcAft>
              <a:buNone/>
            </a:pPr>
            <a:r>
              <a:rPr lang="en-US" sz="1400" dirty="0">
                <a:solidFill>
                  <a:srgbClr val="5B5A55"/>
                </a:solidFill>
                <a:latin typeface="Calibri" pitchFamily="34" charset="0"/>
                <a:ea typeface="Calibri" pitchFamily="34" charset="-122"/>
                <a:cs typeface="Calibri" pitchFamily="34" charset="-120"/>
              </a:rPr>
              <a:t>Cancelled units are subtracted from the order they cancel, so a 74,215-unit order cancelled the same day no longer counts.</a:t>
            </a:r>
            <a:endParaRPr lang="en-US" sz="1400" dirty="0"/>
          </a:p>
          <a:p>
            <a:pPr indent="0" marL="0">
              <a:buNone/>
            </a:pPr>
            <a:r>
              <a:rPr lang="en-US" sz="1400" b="1" dirty="0">
                <a:solidFill>
                  <a:srgbClr val="1D1D1B"/>
                </a:solidFill>
                <a:latin typeface="Calibri" pitchFamily="34" charset="0"/>
                <a:ea typeface="Calibri" pitchFamily="34" charset="-122"/>
                <a:cs typeface="Calibri" pitchFamily="34" charset="-120"/>
              </a:rPr>
              <a:t>A leak-free split</a:t>
            </a:r>
            <a:endParaRPr lang="en-US" sz="1400" dirty="0"/>
          </a:p>
          <a:p>
            <a:pPr indent="0" marL="0">
              <a:spcAft>
                <a:spcPts val="1200"/>
              </a:spcAft>
              <a:buNone/>
            </a:pPr>
            <a:r>
              <a:rPr lang="en-US" sz="1400" dirty="0">
                <a:solidFill>
                  <a:srgbClr val="5B5A55"/>
                </a:solidFill>
                <a:latin typeface="Calibri" pitchFamily="34" charset="0"/>
                <a:ea typeface="Calibri" pitchFamily="34" charset="-122"/>
                <a:cs typeface="Calibri" pitchFamily="34" charset="-120"/>
              </a:rPr>
              <a:t>Test = the last 2 months, only products new to each customer: 44,552 purchases by 1,903 customers.</a:t>
            </a:r>
            <a:endParaRPr lang="en-US" sz="1400" dirty="0"/>
          </a:p>
          <a:p>
            <a:pPr indent="0" marL="0">
              <a:buNone/>
            </a:pPr>
            <a:r>
              <a:rPr lang="en-US" sz="1400" b="1" dirty="0">
                <a:solidFill>
                  <a:srgbClr val="1D1D1B"/>
                </a:solidFill>
                <a:latin typeface="Calibri" pitchFamily="34" charset="0"/>
                <a:ea typeface="Calibri" pitchFamily="34" charset="-122"/>
                <a:cs typeface="Calibri" pitchFamily="34" charset="-120"/>
              </a:rPr>
              <a:t>The matrix</a:t>
            </a:r>
            <a:endParaRPr lang="en-US" sz="1400" dirty="0"/>
          </a:p>
          <a:p>
            <a:pPr indent="0" marL="0">
              <a:spcAft>
                <a:spcPts val="1200"/>
              </a:spcAft>
              <a:buNone/>
            </a:pPr>
            <a:r>
              <a:rPr lang="en-US" sz="1400" dirty="0">
                <a:solidFill>
                  <a:srgbClr val="5B5A55"/>
                </a:solidFill>
                <a:latin typeface="Calibri" pitchFamily="34" charset="0"/>
                <a:ea typeface="Calibri" pitchFamily="34" charset="-122"/>
                <a:cs typeface="Calibri" pitchFamily="34" charset="-120"/>
              </a:rPr>
              <a:t>5,456 customers × 3,680 products, 98% zeros, 5.0 MB sparse. One command rebuilds it: python build_matrix.py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8872" cy="118872"/>
          </a:xfrm>
          <a:prstGeom prst="ellipse">
            <a:avLst/>
          </a:prstGeom>
          <a:solidFill>
            <a:srgbClr val="C8102E"/>
          </a:solidFill>
          <a:ln/>
        </p:spPr>
      </p:sp>
      <p:sp>
        <p:nvSpPr>
          <p:cNvPr id="3" name="Text 1"/>
          <p:cNvSpPr txBox="1"/>
          <p:nvPr/>
        </p:nvSpPr>
        <p:spPr>
          <a:xfrm>
            <a:off x="749808" y="384048"/>
            <a:ext cx="8229600" cy="292608"/>
          </a:xfrm>
          <a:prstGeom prst="rect">
            <a:avLst/>
          </a:prstGeom>
          <a:noFill/>
          <a:ln/>
        </p:spPr>
        <p:txBody>
          <a:bodyPr wrap="square" lIns="0" tIns="0" rIns="0" bIns="0" rtlCol="0" anchor="ctr"/>
          <a:lstStyle/>
          <a:p>
            <a:pPr indent="0" marL="0">
              <a:buNone/>
            </a:pPr>
            <a:r>
              <a:rPr lang="en-US" sz="1100" b="1" spc="200" kern="0" dirty="0">
                <a:solidFill>
                  <a:srgbClr val="5B5A55"/>
                </a:solidFill>
                <a:latin typeface="Calibri" pitchFamily="34" charset="0"/>
                <a:ea typeface="Calibri" pitchFamily="34" charset="-122"/>
                <a:cs typeface="Calibri" pitchFamily="34" charset="-120"/>
              </a:rPr>
              <a:t>METHOD CHOICE (DECIDED BEFORE FITTING)</a:t>
            </a:r>
            <a:endParaRPr lang="en-US" sz="1100" dirty="0"/>
          </a:p>
        </p:txBody>
      </p:sp>
      <p:sp>
        <p:nvSpPr>
          <p:cNvPr id="4" name="Text 2"/>
          <p:cNvSpPr txBox="1"/>
          <p:nvPr/>
        </p:nvSpPr>
        <p:spPr>
          <a:xfrm>
            <a:off x="548640" y="713232"/>
            <a:ext cx="11094415" cy="777240"/>
          </a:xfrm>
          <a:prstGeom prst="rect">
            <a:avLst/>
          </a:prstGeom>
          <a:noFill/>
          <a:ln/>
        </p:spPr>
        <p:txBody>
          <a:bodyPr wrap="square" lIns="0" tIns="0" rIns="0" bIns="0" rtlCol="0" anchor="t"/>
          <a:lstStyle/>
          <a:p>
            <a:pPr indent="0" marL="0">
              <a:buNone/>
            </a:pPr>
            <a:r>
              <a:rPr lang="en-US" sz="3200" b="1" dirty="0">
                <a:solidFill>
                  <a:srgbClr val="1D1D1B"/>
                </a:solidFill>
                <a:latin typeface="Cambria" pitchFamily="34" charset="0"/>
                <a:ea typeface="Cambria" pitchFamily="34" charset="-122"/>
                <a:cs typeface="Cambria" pitchFamily="34" charset="-120"/>
              </a:rPr>
              <a:t>PCA or SVD? On our data they agree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675120" cy="914400"/>
        </p:xfrm>
        <a:graphic>
          <a:graphicData uri="http://schemas.openxmlformats.org/drawingml/2006/table">
            <a:tbl>
              <a:tblPr/>
              <a:tblGrid>
                <a:gridCol w="2377440"/>
                <a:gridCol w="2514600"/>
                <a:gridCol w="1783080"/>
              </a:tblGrid>
              <a:tr h="512064">
                <a:tc>
                  <a:txBody>
                    <a:bodyPr/>
                    <a:lstStyle/>
                    <a:p>
                      <a:pPr indent="0" marL="0">
                        <a:buNone/>
                      </a:pPr>
                      <a:r>
                        <a:rPr lang="en-US" sz="1300" b="1" dirty="0">
                          <a:solidFill>
                            <a:srgbClr val="5B5A55"/>
                          </a:solidFill>
                          <a:latin typeface="Calibri" pitchFamily="34" charset="0"/>
                          <a:ea typeface="Calibri" pitchFamily="34" charset="-122"/>
                          <a:cs typeface="Calibri" pitchFamily="34" charset="-120"/>
                        </a:rPr>
                        <a:t>Same matrix, k = 70</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3F5F9"/>
                    </a:solidFill>
                  </a:tcPr>
                </a:tc>
                <a:tc>
                  <a:txBody>
                    <a:bodyPr/>
                    <a:lstStyle/>
                    <a:p>
                      <a:pPr indent="0" marL="0">
                        <a:buNone/>
                      </a:pPr>
                      <a:r>
                        <a:rPr lang="en-US" sz="1300" b="1" dirty="0">
                          <a:solidFill>
                            <a:srgbClr val="5B5A55"/>
                          </a:solidFill>
                          <a:latin typeface="Calibri" pitchFamily="34" charset="0"/>
                          <a:ea typeface="Calibri" pitchFamily="34" charset="-122"/>
                          <a:cs typeface="Calibri" pitchFamily="34" charset="-120"/>
                        </a:rPr>
                        <a:t>PCA</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3F5F9"/>
                    </a:solidFill>
                  </a:tcPr>
                </a:tc>
                <a:tc>
                  <a:txBody>
                    <a:bodyPr/>
                    <a:lstStyle/>
                    <a:p>
                      <a:pPr indent="0" marL="0">
                        <a:buNone/>
                      </a:pPr>
                      <a:r>
                        <a:rPr lang="en-US" sz="1300" b="1" dirty="0">
                          <a:solidFill>
                            <a:srgbClr val="5B5A55"/>
                          </a:solidFill>
                          <a:latin typeface="Calibri" pitchFamily="34" charset="0"/>
                          <a:ea typeface="Calibri" pitchFamily="34" charset="-122"/>
                          <a:cs typeface="Calibri" pitchFamily="34" charset="-120"/>
                        </a:rPr>
                        <a:t>Truncated SVD</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3F5F9"/>
                    </a:solidFill>
                  </a:tcPr>
                </a:tc>
              </a:tr>
              <a:tr h="512064">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Fit time</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0.27 s</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0.29 s</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512064">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Peak memory during fit</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10.8 MB (493 MB if centred by hand)</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15.6 MB</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512064">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Stored factors</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5.15 MB</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5.12 MB</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512064">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Relative reconstruction error</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0.809</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0.809</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512064">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Hit rate at 10 (test)</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40.6%</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40.4%</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r h="512064">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Component 1 means</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Overall buying</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c>
                  <a:txBody>
                    <a:bodyPr/>
                    <a:lstStyle/>
                    <a:p>
                      <a:pPr indent="0" marL="0">
                        <a:buNone/>
                      </a:pPr>
                      <a:r>
                        <a:rPr lang="en-US" sz="1300" dirty="0">
                          <a:solidFill>
                            <a:srgbClr val="1D1D1B"/>
                          </a:solidFill>
                          <a:latin typeface="Calibri" pitchFamily="34" charset="0"/>
                          <a:ea typeface="Calibri" pitchFamily="34" charset="-122"/>
                          <a:cs typeface="Calibri" pitchFamily="34" charset="-120"/>
                        </a:rPr>
                        <a:t>Overall buying</a:t>
                      </a:r>
                      <a:endParaRPr lang="en-US" sz="1300" dirty="0">
                        <a:latin typeface="Calibri" charset="0"/>
                        <a:ea typeface="Calibri" charset="0"/>
                        <a:cs typeface="Calibri" charset="0"/>
                      </a:endParaRPr>
                    </a:p>
                  </a:txBody>
                  <a:tcPr marL="109728" marR="109728" marT="0" marB="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tcPr>
                </a:tc>
              </a:tr>
            </a:tbl>
          </a:graphicData>
        </a:graphic>
      </p:graphicFrame>
      <p:sp>
        <p:nvSpPr>
          <p:cNvPr id="6" name="Text 3"/>
          <p:cNvSpPr txBox="1"/>
          <p:nvPr/>
        </p:nvSpPr>
        <p:spPr>
          <a:xfrm>
            <a:off x="7680960" y="1828800"/>
            <a:ext cx="1737360" cy="731520"/>
          </a:xfrm>
          <a:prstGeom prst="rect">
            <a:avLst/>
          </a:prstGeom>
          <a:noFill/>
          <a:ln/>
        </p:spPr>
        <p:txBody>
          <a:bodyPr wrap="square" lIns="0" tIns="0" rIns="0" bIns="0" rtlCol="0" anchor="ctr"/>
          <a:lstStyle/>
          <a:p>
            <a:pPr indent="0" marL="0">
              <a:buNone/>
            </a:pPr>
            <a:r>
              <a:rPr lang="en-US" sz="3600" b="1" dirty="0">
                <a:solidFill>
                  <a:srgbClr val="1D1D1B"/>
                </a:solidFill>
                <a:latin typeface="Cambria" pitchFamily="34" charset="0"/>
                <a:ea typeface="Cambria" pitchFamily="34" charset="-122"/>
                <a:cs typeface="Cambria" pitchFamily="34" charset="-120"/>
              </a:rPr>
              <a:t>4.7%</a:t>
            </a:r>
            <a:endParaRPr lang="en-US" sz="3600" dirty="0"/>
          </a:p>
        </p:txBody>
      </p:sp>
      <p:sp>
        <p:nvSpPr>
          <p:cNvPr id="7" name="Text 4"/>
          <p:cNvSpPr txBox="1"/>
          <p:nvPr/>
        </p:nvSpPr>
        <p:spPr>
          <a:xfrm>
            <a:off x="9418320" y="1874520"/>
            <a:ext cx="2224735" cy="1097280"/>
          </a:xfrm>
          <a:prstGeom prst="rect">
            <a:avLst/>
          </a:prstGeom>
          <a:noFill/>
          <a:ln/>
        </p:spPr>
        <p:txBody>
          <a:bodyPr wrap="square" lIns="0" tIns="0" rIns="0" bIns="0" rtlCol="0" anchor="t"/>
          <a:lstStyle/>
          <a:p>
            <a:pPr indent="0" marL="0">
              <a:buNone/>
            </a:pPr>
            <a:r>
              <a:rPr lang="en-US" sz="1300" dirty="0">
                <a:solidFill>
                  <a:srgbClr val="5B5A55"/>
                </a:solidFill>
                <a:latin typeface="Calibri" pitchFamily="34" charset="0"/>
                <a:ea typeface="Calibri" pitchFamily="34" charset="-122"/>
                <a:cs typeface="Calibri" pitchFamily="34" charset="-120"/>
              </a:rPr>
              <a:t>of the matrix is the “average customer” PCA removes. 98% of cells are zero, so centring barely changes the model.</a:t>
            </a:r>
            <a:endParaRPr lang="en-US" sz="1300" dirty="0"/>
          </a:p>
        </p:txBody>
      </p:sp>
      <p:sp>
        <p:nvSpPr>
          <p:cNvPr id="8" name="Text 5"/>
          <p:cNvSpPr txBox="1"/>
          <p:nvPr/>
        </p:nvSpPr>
        <p:spPr>
          <a:xfrm>
            <a:off x="7680960" y="3246120"/>
            <a:ext cx="1737360" cy="731520"/>
          </a:xfrm>
          <a:prstGeom prst="rect">
            <a:avLst/>
          </a:prstGeom>
          <a:noFill/>
          <a:ln/>
        </p:spPr>
        <p:txBody>
          <a:bodyPr wrap="square" lIns="0" tIns="0" rIns="0" bIns="0" rtlCol="0" anchor="ctr"/>
          <a:lstStyle/>
          <a:p>
            <a:pPr indent="0" marL="0">
              <a:buNone/>
            </a:pPr>
            <a:r>
              <a:rPr lang="en-US" sz="3600" b="1" dirty="0">
                <a:solidFill>
                  <a:srgbClr val="1D1D1B"/>
                </a:solidFill>
                <a:latin typeface="Cambria" pitchFamily="34" charset="0"/>
                <a:ea typeface="Cambria" pitchFamily="34" charset="-122"/>
                <a:cs typeface="Cambria" pitchFamily="34" charset="-120"/>
              </a:rPr>
              <a:t>96%</a:t>
            </a:r>
            <a:endParaRPr lang="en-US" sz="3600" dirty="0"/>
          </a:p>
        </p:txBody>
      </p:sp>
      <p:sp>
        <p:nvSpPr>
          <p:cNvPr id="9" name="Text 6"/>
          <p:cNvSpPr txBox="1"/>
          <p:nvPr/>
        </p:nvSpPr>
        <p:spPr>
          <a:xfrm>
            <a:off x="9418320" y="3291840"/>
            <a:ext cx="2224735" cy="1097280"/>
          </a:xfrm>
          <a:prstGeom prst="rect">
            <a:avLst/>
          </a:prstGeom>
          <a:noFill/>
          <a:ln/>
        </p:spPr>
        <p:txBody>
          <a:bodyPr wrap="square" lIns="0" tIns="0" rIns="0" bIns="0" rtlCol="0" anchor="t"/>
          <a:lstStyle/>
          <a:p>
            <a:pPr indent="0" marL="0">
              <a:buNone/>
            </a:pPr>
            <a:r>
              <a:rPr lang="en-US" sz="1300" dirty="0">
                <a:solidFill>
                  <a:srgbClr val="5B5A55"/>
                </a:solidFill>
                <a:latin typeface="Calibri" pitchFamily="34" charset="0"/>
                <a:ea typeface="Calibri" pitchFamily="34" charset="-122"/>
                <a:cs typeface="Calibri" pitchFamily="34" charset="-120"/>
              </a:rPr>
              <a:t>of “also bought” lists are identical between the two methods.</a:t>
            </a:r>
            <a:endParaRPr lang="en-US" sz="1300" dirty="0"/>
          </a:p>
        </p:txBody>
      </p:sp>
      <p:sp>
        <p:nvSpPr>
          <p:cNvPr id="10" name="Shape 7"/>
          <p:cNvSpPr/>
          <p:nvPr/>
        </p:nvSpPr>
        <p:spPr>
          <a:xfrm>
            <a:off x="7680960" y="4800600"/>
            <a:ext cx="3962095" cy="1234440"/>
          </a:xfrm>
          <a:prstGeom prst="rect">
            <a:avLst/>
          </a:prstGeom>
          <a:solidFill>
            <a:srgbClr val="F3F5F9"/>
          </a:solidFill>
          <a:ln/>
        </p:spPr>
      </p:sp>
      <p:sp>
        <p:nvSpPr>
          <p:cNvPr id="11" name="Text 8"/>
          <p:cNvSpPr txBox="1"/>
          <p:nvPr/>
        </p:nvSpPr>
        <p:spPr>
          <a:xfrm>
            <a:off x="7863840" y="4892040"/>
            <a:ext cx="3596335" cy="1051560"/>
          </a:xfrm>
          <a:prstGeom prst="rect">
            <a:avLst/>
          </a:prstGeom>
          <a:noFill/>
          <a:ln/>
        </p:spPr>
        <p:txBody>
          <a:bodyPr wrap="square" lIns="0" tIns="0" rIns="0" bIns="0" rtlCol="0" anchor="ctr"/>
          <a:lstStyle/>
          <a:p>
            <a:pPr indent="0" marL="0">
              <a:buNone/>
            </a:pPr>
            <a:r>
              <a:rPr lang="en-US" sz="1300" b="1" dirty="0">
                <a:solidFill>
                  <a:srgbClr val="1D1D1B"/>
                </a:solidFill>
                <a:latin typeface="Calibri" pitchFamily="34" charset="0"/>
                <a:ea typeface="Calibri" pitchFamily="34" charset="-122"/>
                <a:cs typeface="Calibri" pitchFamily="34" charset="-120"/>
              </a:rPr>
              <a:t>Decision: Truncated SVD</a:t>
            </a:r>
            <a:endParaRPr lang="en-US" sz="1300" dirty="0"/>
          </a:p>
          <a:p>
            <a:pPr indent="0" marL="0">
              <a:buNone/>
            </a:pPr>
            <a:r>
              <a:rPr lang="en-US" sz="1300" dirty="0">
                <a:solidFill>
                  <a:srgbClr val="5B5A55"/>
                </a:solidFill>
                <a:latin typeface="Calibri" pitchFamily="34" charset="0"/>
                <a:ea typeface="Calibri" pitchFamily="34" charset="-122"/>
                <a:cs typeface="Calibri" pitchFamily="34" charset="-120"/>
              </a:rPr>
              <a:t>PCA is ahead by only 0.2 points, under the 1-point bar set before fitting. SVD works on the sparse table as it is.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8872" cy="118872"/>
          </a:xfrm>
          <a:prstGeom prst="ellipse">
            <a:avLst/>
          </a:prstGeom>
          <a:solidFill>
            <a:srgbClr val="C8102E"/>
          </a:solidFill>
          <a:ln/>
        </p:spPr>
      </p:sp>
      <p:sp>
        <p:nvSpPr>
          <p:cNvPr id="3" name="Text 1"/>
          <p:cNvSpPr txBox="1"/>
          <p:nvPr/>
        </p:nvSpPr>
        <p:spPr>
          <a:xfrm>
            <a:off x="749808" y="384048"/>
            <a:ext cx="8229600" cy="292608"/>
          </a:xfrm>
          <a:prstGeom prst="rect">
            <a:avLst/>
          </a:prstGeom>
          <a:noFill/>
          <a:ln/>
        </p:spPr>
        <p:txBody>
          <a:bodyPr wrap="square" lIns="0" tIns="0" rIns="0" bIns="0" rtlCol="0" anchor="ctr"/>
          <a:lstStyle/>
          <a:p>
            <a:pPr indent="0" marL="0">
              <a:buNone/>
            </a:pPr>
            <a:r>
              <a:rPr lang="en-US" sz="1100" b="1" spc="200" kern="0" dirty="0">
                <a:solidFill>
                  <a:srgbClr val="5B5A55"/>
                </a:solidFill>
                <a:latin typeface="Calibri" pitchFamily="34" charset="0"/>
                <a:ea typeface="Calibri" pitchFamily="34" charset="-122"/>
                <a:cs typeface="Calibri" pitchFamily="34" charset="-120"/>
              </a:rPr>
              <a:t>CHOOSING THE SETTINGS</a:t>
            </a:r>
            <a:endParaRPr lang="en-US" sz="1100" dirty="0"/>
          </a:p>
        </p:txBody>
      </p:sp>
      <p:sp>
        <p:nvSpPr>
          <p:cNvPr id="4" name="Text 2"/>
          <p:cNvSpPr txBox="1"/>
          <p:nvPr/>
        </p:nvSpPr>
        <p:spPr>
          <a:xfrm>
            <a:off x="548640" y="713232"/>
            <a:ext cx="11094415" cy="777240"/>
          </a:xfrm>
          <a:prstGeom prst="rect">
            <a:avLst/>
          </a:prstGeom>
          <a:noFill/>
          <a:ln/>
        </p:spPr>
        <p:txBody>
          <a:bodyPr wrap="square" lIns="0" tIns="0" rIns="0" bIns="0" rtlCol="0" anchor="t"/>
          <a:lstStyle/>
          <a:p>
            <a:pPr indent="0" marL="0">
              <a:buNone/>
            </a:pPr>
            <a:r>
              <a:rPr lang="en-US" sz="3200" b="1" dirty="0">
                <a:solidFill>
                  <a:srgbClr val="1D1D1B"/>
                </a:solidFill>
                <a:latin typeface="Cambria" pitchFamily="34" charset="0"/>
                <a:ea typeface="Cambria" pitchFamily="34" charset="-122"/>
                <a:cs typeface="Cambria" pitchFamily="34" charset="-120"/>
              </a:rPr>
              <a:t>Chosen on a validation period, never on the test set</a:t>
            </a:r>
            <a:endParaRPr lang="en-US" sz="3200" dirty="0"/>
          </a:p>
        </p:txBody>
      </p:sp>
      <p:sp>
        <p:nvSpPr>
          <p:cNvPr id="5" name="Text 3"/>
          <p:cNvSpPr txBox="1"/>
          <p:nvPr/>
        </p:nvSpPr>
        <p:spPr>
          <a:xfrm>
            <a:off x="548640" y="1691640"/>
            <a:ext cx="7132320" cy="320040"/>
          </a:xfrm>
          <a:prstGeom prst="rect">
            <a:avLst/>
          </a:prstGeom>
          <a:noFill/>
          <a:ln/>
        </p:spPr>
        <p:txBody>
          <a:bodyPr wrap="square" lIns="0" tIns="0" rIns="0" bIns="0" rtlCol="0" anchor="ctr"/>
          <a:lstStyle/>
          <a:p>
            <a:pPr indent="0" marL="0">
              <a:buNone/>
            </a:pPr>
            <a:r>
              <a:rPr lang="en-US" sz="1300" b="1" dirty="0">
                <a:solidFill>
                  <a:srgbClr val="1D1D1B"/>
                </a:solidFill>
                <a:latin typeface="Calibri" pitchFamily="34" charset="0"/>
                <a:ea typeface="Calibri" pitchFamily="34" charset="-122"/>
                <a:cs typeface="Calibri" pitchFamily="34" charset="-120"/>
              </a:rPr>
              <a:t>Validation hit rate at 10, by k and purchase value</a:t>
            </a:r>
            <a:endParaRPr lang="en-US" sz="1300" dirty="0"/>
          </a:p>
        </p:txBody>
      </p:sp>
      <p:graphicFrame>
        <p:nvGraphicFramePr>
          <p:cNvPr id="6" name="Chart 0" descr=""/>
          <p:cNvGraphicFramePr/>
          <p:nvPr/>
        </p:nvGraphicFramePr>
        <p:xfrm>
          <a:off x="457200" y="201168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138160" y="1737360"/>
            <a:ext cx="3504895" cy="4572000"/>
          </a:xfrm>
          <a:prstGeom prst="rect">
            <a:avLst/>
          </a:prstGeom>
          <a:noFill/>
          <a:ln/>
        </p:spPr>
        <p:txBody>
          <a:bodyPr wrap="square" lIns="0" tIns="0" rIns="0" bIns="0" rtlCol="0" anchor="t"/>
          <a:lstStyle/>
          <a:p>
            <a:pPr indent="0" marL="0">
              <a:buNone/>
            </a:pPr>
            <a:r>
              <a:rPr lang="en-US" sz="1400" b="1" dirty="0">
                <a:solidFill>
                  <a:srgbClr val="1D1D1B"/>
                </a:solidFill>
                <a:latin typeface="Calibri" pitchFamily="34" charset="0"/>
                <a:ea typeface="Calibri" pitchFamily="34" charset="-122"/>
                <a:cs typeface="Calibri" pitchFamily="34" charset="-120"/>
              </a:rPr>
              <a:t>A validation period</a:t>
            </a:r>
            <a:endParaRPr lang="en-US" sz="1400" dirty="0"/>
          </a:p>
          <a:p>
            <a:pPr indent="0" marL="0">
              <a:spcAft>
                <a:spcPts val="1200"/>
              </a:spcAft>
              <a:buNone/>
            </a:pPr>
            <a:r>
              <a:rPr lang="en-US" sz="1400" dirty="0">
                <a:solidFill>
                  <a:srgbClr val="5B5A55"/>
                </a:solidFill>
                <a:latin typeface="Calibri" pitchFamily="34" charset="0"/>
                <a:ea typeface="Calibri" pitchFamily="34" charset="-122"/>
                <a:cs typeface="Calibri" pitchFamily="34" charset="-120"/>
              </a:rPr>
              <a:t>The same 2-month split, inside the training data: 9 Aug to 9 Oct 2011 (1,397 customers).</a:t>
            </a:r>
            <a:endParaRPr lang="en-US" sz="1400" dirty="0"/>
          </a:p>
          <a:p>
            <a:pPr indent="0" marL="0">
              <a:buNone/>
            </a:pPr>
            <a:r>
              <a:rPr lang="en-US" sz="1400" b="1" dirty="0">
                <a:solidFill>
                  <a:srgbClr val="1D1D1B"/>
                </a:solidFill>
                <a:latin typeface="Calibri" pitchFamily="34" charset="0"/>
                <a:ea typeface="Calibri" pitchFamily="34" charset="-122"/>
                <a:cs typeface="Calibri" pitchFamily="34" charset="-120"/>
              </a:rPr>
              <a:t>What won</a:t>
            </a:r>
            <a:endParaRPr lang="en-US" sz="1400" dirty="0"/>
          </a:p>
          <a:p>
            <a:pPr indent="0" marL="0">
              <a:spcAft>
                <a:spcPts val="1200"/>
              </a:spcAft>
              <a:buNone/>
            </a:pPr>
            <a:r>
              <a:rPr lang="en-US" sz="1400" dirty="0">
                <a:solidFill>
                  <a:srgbClr val="5B5A55"/>
                </a:solidFill>
                <a:latin typeface="Calibri" pitchFamily="34" charset="0"/>
                <a:ea typeface="Calibri" pitchFamily="34" charset="-122"/>
                <a:cs typeface="Calibri" pitchFamily="34" charset="-120"/>
              </a:rPr>
              <a:t>1/0 “bought it” cells, k = 70, and rebuilt-row scoring: 42.4% against 25.6% for best sellers. We take the smallest k within 1 point of the best.</a:t>
            </a:r>
            <a:endParaRPr lang="en-US" sz="1400" dirty="0"/>
          </a:p>
          <a:p>
            <a:pPr indent="0" marL="0">
              <a:buNone/>
            </a:pPr>
            <a:r>
              <a:rPr lang="en-US" sz="1400" b="1" dirty="0">
                <a:solidFill>
                  <a:srgbClr val="1D1D1B"/>
                </a:solidFill>
                <a:latin typeface="Calibri" pitchFamily="34" charset="0"/>
                <a:ea typeface="Calibri" pitchFamily="34" charset="-122"/>
                <a:cs typeface="Calibri" pitchFamily="34" charset="-120"/>
              </a:rPr>
              <a:t>The brief's cosine rule lost</a:t>
            </a:r>
            <a:endParaRPr lang="en-US" sz="1400" dirty="0"/>
          </a:p>
          <a:p>
            <a:pPr indent="0" marL="0">
              <a:spcAft>
                <a:spcPts val="1200"/>
              </a:spcAft>
              <a:buNone/>
            </a:pPr>
            <a:r>
              <a:rPr lang="en-US" sz="1400" dirty="0">
                <a:solidFill>
                  <a:srgbClr val="5B5A55"/>
                </a:solidFill>
                <a:latin typeface="Calibri" pitchFamily="34" charset="0"/>
                <a:ea typeface="Calibri" pitchFamily="34" charset="-122"/>
                <a:cs typeface="Calibri" pitchFamily="34" charset="-120"/>
              </a:rPr>
              <a:t>It stayed below best sellers at every k: scaling every product to the same length throws away how much it sells.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8872" cy="118872"/>
          </a:xfrm>
          <a:prstGeom prst="ellipse">
            <a:avLst/>
          </a:prstGeom>
          <a:solidFill>
            <a:srgbClr val="C8102E"/>
          </a:solidFill>
          <a:ln/>
        </p:spPr>
      </p:sp>
      <p:sp>
        <p:nvSpPr>
          <p:cNvPr id="3" name="Text 1"/>
          <p:cNvSpPr txBox="1"/>
          <p:nvPr/>
        </p:nvSpPr>
        <p:spPr>
          <a:xfrm>
            <a:off x="749808" y="384048"/>
            <a:ext cx="8229600" cy="292608"/>
          </a:xfrm>
          <a:prstGeom prst="rect">
            <a:avLst/>
          </a:prstGeom>
          <a:noFill/>
          <a:ln/>
        </p:spPr>
        <p:txBody>
          <a:bodyPr wrap="square" lIns="0" tIns="0" rIns="0" bIns="0" rtlCol="0" anchor="ctr"/>
          <a:lstStyle/>
          <a:p>
            <a:pPr indent="0" marL="0">
              <a:buNone/>
            </a:pPr>
            <a:r>
              <a:rPr lang="en-US" sz="1100" b="1" spc="200" kern="0" dirty="0">
                <a:solidFill>
                  <a:srgbClr val="5B5A55"/>
                </a:solidFill>
                <a:latin typeface="Calibri" pitchFamily="34" charset="0"/>
                <a:ea typeface="Calibri" pitchFamily="34" charset="-122"/>
                <a:cs typeface="Calibri" pitchFamily="34" charset="-120"/>
              </a:rPr>
              <a:t>EVALUATION</a:t>
            </a:r>
            <a:endParaRPr lang="en-US" sz="1100" dirty="0"/>
          </a:p>
        </p:txBody>
      </p:sp>
      <p:sp>
        <p:nvSpPr>
          <p:cNvPr id="4" name="Text 2"/>
          <p:cNvSpPr txBox="1"/>
          <p:nvPr/>
        </p:nvSpPr>
        <p:spPr>
          <a:xfrm>
            <a:off x="548640" y="713232"/>
            <a:ext cx="11094415" cy="777240"/>
          </a:xfrm>
          <a:prstGeom prst="rect">
            <a:avLst/>
          </a:prstGeom>
          <a:noFill/>
          <a:ln/>
        </p:spPr>
        <p:txBody>
          <a:bodyPr wrap="square" lIns="0" tIns="0" rIns="0" bIns="0" rtlCol="0" anchor="t"/>
          <a:lstStyle/>
          <a:p>
            <a:pPr indent="0" marL="0">
              <a:buNone/>
            </a:pPr>
            <a:r>
              <a:rPr lang="en-US" sz="3200" b="1" dirty="0">
                <a:solidFill>
                  <a:srgbClr val="1D1D1B"/>
                </a:solidFill>
                <a:latin typeface="Cambria" pitchFamily="34" charset="0"/>
                <a:ea typeface="Cambria" pitchFamily="34" charset="-122"/>
                <a:cs typeface="Cambria" pitchFamily="34" charset="-120"/>
              </a:rPr>
              <a:t>Tested once, on purchases the model never saw</a:t>
            </a:r>
            <a:endParaRPr lang="en-US" sz="3200" dirty="0"/>
          </a:p>
        </p:txBody>
      </p:sp>
      <p:sp>
        <p:nvSpPr>
          <p:cNvPr id="5" name="Text 3"/>
          <p:cNvSpPr txBox="1"/>
          <p:nvPr/>
        </p:nvSpPr>
        <p:spPr>
          <a:xfrm>
            <a:off x="548640" y="1691640"/>
            <a:ext cx="6035040" cy="320040"/>
          </a:xfrm>
          <a:prstGeom prst="rect">
            <a:avLst/>
          </a:prstGeom>
          <a:noFill/>
          <a:ln/>
        </p:spPr>
        <p:txBody>
          <a:bodyPr wrap="square" lIns="0" tIns="0" rIns="0" bIns="0" rtlCol="0" anchor="ctr"/>
          <a:lstStyle/>
          <a:p>
            <a:pPr indent="0" marL="0">
              <a:buNone/>
            </a:pPr>
            <a:r>
              <a:rPr lang="en-US" sz="1300" b="1" dirty="0">
                <a:solidFill>
                  <a:srgbClr val="1D1D1B"/>
                </a:solidFill>
                <a:latin typeface="Calibri" pitchFamily="34" charset="0"/>
                <a:ea typeface="Calibri" pitchFamily="34" charset="-122"/>
                <a:cs typeface="Calibri" pitchFamily="34" charset="-120"/>
              </a:rPr>
              <a:t>Hit rate at 10: share of 1,903 test customers who bought one of their 10 suggestions</a:t>
            </a:r>
            <a:endParaRPr lang="en-US" sz="1300" dirty="0"/>
          </a:p>
        </p:txBody>
      </p:sp>
      <p:graphicFrame>
        <p:nvGraphicFramePr>
          <p:cNvPr id="6" name="Chart 0" descr=""/>
          <p:cNvGraphicFramePr/>
          <p:nvPr/>
        </p:nvGraphicFramePr>
        <p:xfrm>
          <a:off x="457200" y="205740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040880" y="1737360"/>
            <a:ext cx="4572000" cy="822960"/>
          </a:xfrm>
          <a:prstGeom prst="rect">
            <a:avLst/>
          </a:prstGeom>
          <a:noFill/>
          <a:ln/>
        </p:spPr>
        <p:txBody>
          <a:bodyPr wrap="square" lIns="0" tIns="0" rIns="0" bIns="0" rtlCol="0" anchor="ctr"/>
          <a:lstStyle/>
          <a:p>
            <a:pPr indent="0" marL="0">
              <a:buNone/>
            </a:pPr>
            <a:r>
              <a:rPr lang="en-US" sz="4000" b="1" dirty="0">
                <a:solidFill>
                  <a:srgbClr val="1D1D1B"/>
                </a:solidFill>
                <a:latin typeface="Cambria" pitchFamily="34" charset="0"/>
                <a:ea typeface="Cambria" pitchFamily="34" charset="-122"/>
                <a:cs typeface="Cambria" pitchFamily="34" charset="-120"/>
              </a:rPr>
              <a:t>+13.5 points</a:t>
            </a:r>
            <a:endParaRPr lang="en-US" sz="4000" dirty="0"/>
          </a:p>
        </p:txBody>
      </p:sp>
      <p:sp>
        <p:nvSpPr>
          <p:cNvPr id="8" name="Text 5"/>
          <p:cNvSpPr txBox="1"/>
          <p:nvPr/>
        </p:nvSpPr>
        <p:spPr>
          <a:xfrm>
            <a:off x="7040880" y="2560320"/>
            <a:ext cx="4602175" cy="822960"/>
          </a:xfrm>
          <a:prstGeom prst="rect">
            <a:avLst/>
          </a:prstGeom>
          <a:noFill/>
          <a:ln/>
        </p:spPr>
        <p:txBody>
          <a:bodyPr wrap="square" lIns="0" tIns="0" rIns="0" bIns="0" rtlCol="0" anchor="t"/>
          <a:lstStyle/>
          <a:p>
            <a:pPr indent="0" marL="0">
              <a:buNone/>
            </a:pPr>
            <a:r>
              <a:rPr lang="en-US" sz="1400" dirty="0">
                <a:solidFill>
                  <a:srgbClr val="5B5A55"/>
                </a:solidFill>
                <a:latin typeface="Calibri" pitchFamily="34" charset="0"/>
                <a:ea typeface="Calibri" pitchFamily="34" charset="-122"/>
                <a:cs typeface="Calibri" pitchFamily="34" charset="-120"/>
              </a:rPr>
              <a:t>over best sellers (95% interval +10.9 to +16.1). The suggestions use 1,083 different products.</a:t>
            </a:r>
            <a:endParaRPr lang="en-US" sz="1400" dirty="0"/>
          </a:p>
        </p:txBody>
      </p:sp>
      <p:sp>
        <p:nvSpPr>
          <p:cNvPr id="9" name="Shape 6"/>
          <p:cNvSpPr/>
          <p:nvPr/>
        </p:nvSpPr>
        <p:spPr>
          <a:xfrm>
            <a:off x="7040880" y="3611880"/>
            <a:ext cx="4602175" cy="2514600"/>
          </a:xfrm>
          <a:prstGeom prst="rect">
            <a:avLst/>
          </a:prstGeom>
          <a:solidFill>
            <a:srgbClr val="F3F5F9"/>
          </a:solidFill>
          <a:ln/>
        </p:spPr>
      </p:sp>
      <p:sp>
        <p:nvSpPr>
          <p:cNvPr id="10" name="Text 7"/>
          <p:cNvSpPr txBox="1"/>
          <p:nvPr/>
        </p:nvSpPr>
        <p:spPr>
          <a:xfrm>
            <a:off x="7269480" y="3794760"/>
            <a:ext cx="4190695" cy="2194560"/>
          </a:xfrm>
          <a:prstGeom prst="rect">
            <a:avLst/>
          </a:prstGeom>
          <a:noFill/>
          <a:ln/>
        </p:spPr>
        <p:txBody>
          <a:bodyPr wrap="square" lIns="0" tIns="0" rIns="0" bIns="0" rtlCol="0" anchor="t"/>
          <a:lstStyle/>
          <a:p>
            <a:pPr indent="0" marL="0">
              <a:spcAft>
                <a:spcPts val="600"/>
              </a:spcAft>
              <a:buNone/>
            </a:pPr>
            <a:r>
              <a:rPr lang="en-US" sz="1300" b="1" dirty="0">
                <a:solidFill>
                  <a:srgbClr val="1D1D1B"/>
                </a:solidFill>
                <a:latin typeface="Calibri" pitchFamily="34" charset="0"/>
                <a:ea typeface="Calibri" pitchFamily="34" charset="-122"/>
                <a:cs typeface="Calibri" pitchFamily="34" charset="-120"/>
              </a:rPr>
              <a:t>Customers who bought the White Hanging Heart T-Light Holder also bought</a:t>
            </a:r>
            <a:endParaRPr lang="en-US" sz="1300" dirty="0"/>
          </a:p>
          <a:p>
            <a:pPr marL="342900" indent="-342900">
              <a:buSzPct val="100000"/>
              <a:buFont typeface="+mj-lt"/>
              <a:buAutoNum type="arabicPeriod" startAt="1"/>
            </a:pPr>
            <a:r>
              <a:rPr lang="en-US" sz="1300" dirty="0">
                <a:solidFill>
                  <a:srgbClr val="5B5A55"/>
                </a:solidFill>
                <a:latin typeface="Calibri" pitchFamily="34" charset="0"/>
                <a:ea typeface="Calibri" pitchFamily="34" charset="-122"/>
                <a:cs typeface="Calibri" pitchFamily="34" charset="-120"/>
              </a:rPr>
              <a:t>Red Hanging Heart T-Light Holder</a:t>
            </a:r>
            <a:endParaRPr lang="en-US" sz="1300" dirty="0"/>
          </a:p>
          <a:p>
            <a:pPr marL="342900" indent="-342900">
              <a:buSzPct val="100000"/>
              <a:buFont typeface="+mj-lt"/>
              <a:buAutoNum type="arabicPeriod" startAt="1"/>
            </a:pPr>
            <a:r>
              <a:rPr lang="en-US" sz="1300" dirty="0">
                <a:solidFill>
                  <a:srgbClr val="5B5A55"/>
                </a:solidFill>
                <a:latin typeface="Calibri" pitchFamily="34" charset="0"/>
                <a:ea typeface="Calibri" pitchFamily="34" charset="-122"/>
                <a:cs typeface="Calibri" pitchFamily="34" charset="-120"/>
              </a:rPr>
              <a:t>Candleholder Pink Hanging Heart</a:t>
            </a:r>
            <a:endParaRPr lang="en-US" sz="1300" dirty="0"/>
          </a:p>
          <a:p>
            <a:pPr marL="342900" indent="-342900">
              <a:buSzPct val="100000"/>
              <a:buFont typeface="+mj-lt"/>
              <a:buAutoNum type="arabicPeriod" startAt="1"/>
            </a:pPr>
            <a:r>
              <a:rPr lang="en-US" sz="1300" dirty="0">
                <a:solidFill>
                  <a:srgbClr val="5B5A55"/>
                </a:solidFill>
                <a:latin typeface="Calibri" pitchFamily="34" charset="0"/>
                <a:ea typeface="Calibri" pitchFamily="34" charset="-122"/>
                <a:cs typeface="Calibri" pitchFamily="34" charset="-120"/>
              </a:rPr>
              <a:t>Zinc Metal Heart Decoration</a:t>
            </a:r>
            <a:endParaRPr lang="en-US" sz="1300" dirty="0"/>
          </a:p>
          <a:p>
            <a:pPr marL="342900" indent="-342900">
              <a:buSzPct val="100000"/>
              <a:buFont typeface="+mj-lt"/>
              <a:buAutoNum type="arabicPeriod" startAt="1"/>
            </a:pPr>
            <a:r>
              <a:rPr lang="en-US" sz="1300" dirty="0">
                <a:solidFill>
                  <a:srgbClr val="5B5A55"/>
                </a:solidFill>
                <a:latin typeface="Calibri" pitchFamily="34" charset="0"/>
                <a:ea typeface="Calibri" pitchFamily="34" charset="-122"/>
                <a:cs typeface="Calibri" pitchFamily="34" charset="-120"/>
              </a:rPr>
              <a:t>Cream Heart Card Holder</a:t>
            </a:r>
            <a:endParaRPr lang="en-US" sz="1300" dirty="0"/>
          </a:p>
          <a:p>
            <a:pPr marL="342900" indent="-342900">
              <a:buSzPct val="100000"/>
              <a:buFont typeface="+mj-lt"/>
              <a:buAutoNum type="arabicPeriod" startAt="1"/>
            </a:pPr>
            <a:r>
              <a:rPr lang="en-US" sz="1300" dirty="0">
                <a:solidFill>
                  <a:srgbClr val="5B5A55"/>
                </a:solidFill>
                <a:latin typeface="Calibri" pitchFamily="34" charset="0"/>
                <a:ea typeface="Calibri" pitchFamily="34" charset="-122"/>
                <a:cs typeface="Calibri" pitchFamily="34" charset="-120"/>
              </a:rPr>
              <a:t>Natural Slate Heart Chalkboard</a:t>
            </a:r>
            <a:endParaRPr lang="en-US" sz="1300" dirty="0"/>
          </a:p>
          <a:p>
            <a:pPr marL="342900" indent="-342900">
              <a:buSzPct val="100000"/>
              <a:buFont typeface="+mj-lt"/>
              <a:buAutoNum type="arabicPeriod" startAt="1"/>
            </a:pPr>
            <a:r>
              <a:rPr lang="en-US" sz="1300" dirty="0">
                <a:solidFill>
                  <a:srgbClr val="5B5A55"/>
                </a:solidFill>
                <a:latin typeface="Calibri" pitchFamily="34" charset="0"/>
                <a:ea typeface="Calibri" pitchFamily="34" charset="-122"/>
                <a:cs typeface="Calibri" pitchFamily="34" charset="-120"/>
              </a:rPr>
              <a:t>Colour Glass. Star T-Light Holder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118872" cy="118872"/>
          </a:xfrm>
          <a:prstGeom prst="ellipse">
            <a:avLst/>
          </a:prstGeom>
          <a:solidFill>
            <a:srgbClr val="C8102E"/>
          </a:solidFill>
          <a:ln/>
        </p:spPr>
      </p:sp>
      <p:sp>
        <p:nvSpPr>
          <p:cNvPr id="3" name="Text 1"/>
          <p:cNvSpPr txBox="1"/>
          <p:nvPr/>
        </p:nvSpPr>
        <p:spPr>
          <a:xfrm>
            <a:off x="749808" y="384048"/>
            <a:ext cx="8229600" cy="292608"/>
          </a:xfrm>
          <a:prstGeom prst="rect">
            <a:avLst/>
          </a:prstGeom>
          <a:noFill/>
          <a:ln/>
        </p:spPr>
        <p:txBody>
          <a:bodyPr wrap="square" lIns="0" tIns="0" rIns="0" bIns="0" rtlCol="0" anchor="ctr"/>
          <a:lstStyle/>
          <a:p>
            <a:pPr indent="0" marL="0">
              <a:buNone/>
            </a:pPr>
            <a:r>
              <a:rPr lang="en-US" sz="1100" b="1" spc="200" kern="0" dirty="0">
                <a:solidFill>
                  <a:srgbClr val="5B5A55"/>
                </a:solidFill>
                <a:latin typeface="Calibri" pitchFamily="34" charset="0"/>
                <a:ea typeface="Calibri" pitchFamily="34" charset="-122"/>
                <a:cs typeface="Calibri" pitchFamily="34" charset="-120"/>
              </a:rPr>
              <a:t>FOR MARKETING</a:t>
            </a:r>
            <a:endParaRPr lang="en-US" sz="1100" dirty="0"/>
          </a:p>
        </p:txBody>
      </p:sp>
      <p:sp>
        <p:nvSpPr>
          <p:cNvPr id="4" name="Text 2"/>
          <p:cNvSpPr txBox="1"/>
          <p:nvPr/>
        </p:nvSpPr>
        <p:spPr>
          <a:xfrm>
            <a:off x="548640" y="713232"/>
            <a:ext cx="11094415" cy="777240"/>
          </a:xfrm>
          <a:prstGeom prst="rect">
            <a:avLst/>
          </a:prstGeom>
          <a:noFill/>
          <a:ln/>
        </p:spPr>
        <p:txBody>
          <a:bodyPr wrap="square" lIns="0" tIns="0" rIns="0" bIns="0" rtlCol="0" anchor="t"/>
          <a:lstStyle/>
          <a:p>
            <a:pPr indent="0" marL="0">
              <a:buNone/>
            </a:pPr>
            <a:r>
              <a:rPr lang="en-US" sz="3200" b="1" dirty="0">
                <a:solidFill>
                  <a:srgbClr val="1D1D1B"/>
                </a:solidFill>
                <a:latin typeface="Cambria" pitchFamily="34" charset="0"/>
                <a:ea typeface="Cambria" pitchFamily="34" charset="-122"/>
                <a:cs typeface="Cambria" pitchFamily="34" charset="-120"/>
              </a:rPr>
              <a:t>Four customer groups to plan campaigns around</a:t>
            </a:r>
            <a:endParaRPr lang="en-US" sz="3200" dirty="0"/>
          </a:p>
        </p:txBody>
      </p:sp>
      <p:pic>
        <p:nvPicPr>
          <p:cNvPr id="5" name="Image 0" descr="Customer map: four panels, one per group, on axes of overall buying and taste">    </p:cNvPr>
          <p:cNvPicPr>
            <a:picLocks noChangeAspect="1"/>
          </p:cNvPicPr>
          <p:nvPr/>
        </p:nvPicPr>
        <p:blipFill>
          <a:blip r:embed="rId1"/>
          <a:stretch>
            <a:fillRect/>
          </a:stretch>
        </p:blipFill>
        <p:spPr>
          <a:xfrm>
            <a:off x="457200" y="1645920"/>
            <a:ext cx="6235491" cy="4892040"/>
          </a:xfrm>
          <a:prstGeom prst="rect">
            <a:avLst/>
          </a:prstGeom>
        </p:spPr>
      </p:pic>
      <p:sp>
        <p:nvSpPr>
          <p:cNvPr id="6" name="Text 3"/>
          <p:cNvSpPr txBox="1"/>
          <p:nvPr/>
        </p:nvSpPr>
        <p:spPr>
          <a:xfrm>
            <a:off x="7058451" y="1691640"/>
            <a:ext cx="4584605" cy="1097280"/>
          </a:xfrm>
          <a:prstGeom prst="rect">
            <a:avLst/>
          </a:prstGeom>
          <a:noFill/>
          <a:ln/>
        </p:spPr>
        <p:txBody>
          <a:bodyPr wrap="square" lIns="0" tIns="0" rIns="0" bIns="0" rtlCol="0" anchor="t"/>
          <a:lstStyle/>
          <a:p>
            <a:pPr indent="0" marL="0">
              <a:buNone/>
            </a:pPr>
            <a:r>
              <a:rPr lang="en-US" sz="1300" b="1" dirty="0">
                <a:solidFill>
                  <a:srgbClr val="1D1D1B"/>
                </a:solidFill>
                <a:latin typeface="Calibri" pitchFamily="34" charset="0"/>
                <a:ea typeface="Calibri" pitchFamily="34" charset="-122"/>
                <a:cs typeface="Calibri" pitchFamily="34" charset="-120"/>
              </a:rPr>
              <a:t>Big regular wholesalers  </a:t>
            </a:r>
            <a:pPr indent="0" marL="0">
              <a:buNone/>
            </a:pPr>
            <a:r>
              <a:rPr lang="en-US" sz="1300" dirty="0">
                <a:solidFill>
                  <a:srgbClr val="5B5A55"/>
                </a:solidFill>
                <a:latin typeface="Calibri" pitchFamily="34" charset="0"/>
                <a:ea typeface="Calibri" pitchFamily="34" charset="-122"/>
                <a:cs typeface="Calibri" pitchFamily="34" charset="-120"/>
              </a:rPr>
              <a:t>33%</a:t>
            </a:r>
            <a:endParaRPr lang="en-US" sz="1300" dirty="0"/>
          </a:p>
          <a:p>
            <a:pPr indent="0" marL="0">
              <a:buNone/>
            </a:pPr>
            <a:r>
              <a:rPr lang="en-US" sz="1300" dirty="0">
                <a:solidFill>
                  <a:srgbClr val="5B5A55"/>
                </a:solidFill>
                <a:latin typeface="Calibri" pitchFamily="34" charset="0"/>
                <a:ea typeface="Calibri" pitchFamily="34" charset="-122"/>
                <a:cs typeface="Calibri" pitchFamily="34" charset="-120"/>
              </a:rPr>
              <a:t>Buy across the range: baking, bags, storage</a:t>
            </a:r>
            <a:endParaRPr lang="en-US" sz="1300" dirty="0"/>
          </a:p>
          <a:p>
            <a:pPr indent="0" marL="0">
              <a:buNone/>
            </a:pPr>
            <a:r>
              <a:rPr lang="en-US" sz="1300" i="1" dirty="0">
                <a:solidFill>
                  <a:srgbClr val="1D1D1B"/>
                </a:solidFill>
                <a:latin typeface="Calibri" pitchFamily="34" charset="0"/>
                <a:ea typeface="Calibri" pitchFamily="34" charset="-122"/>
                <a:cs typeface="Calibri" pitchFamily="34" charset="-120"/>
              </a:rPr>
              <a:t>Campaign: Volume pricing, early access to new ranges</a:t>
            </a:r>
            <a:endParaRPr lang="en-US" sz="1300" dirty="0"/>
          </a:p>
        </p:txBody>
      </p:sp>
      <p:sp>
        <p:nvSpPr>
          <p:cNvPr id="7" name="Text 4"/>
          <p:cNvSpPr txBox="1"/>
          <p:nvPr/>
        </p:nvSpPr>
        <p:spPr>
          <a:xfrm>
            <a:off x="7058451" y="2898648"/>
            <a:ext cx="4584605" cy="1097280"/>
          </a:xfrm>
          <a:prstGeom prst="rect">
            <a:avLst/>
          </a:prstGeom>
          <a:noFill/>
          <a:ln/>
        </p:spPr>
        <p:txBody>
          <a:bodyPr wrap="square" lIns="0" tIns="0" rIns="0" bIns="0" rtlCol="0" anchor="t"/>
          <a:lstStyle/>
          <a:p>
            <a:pPr indent="0" marL="0">
              <a:buNone/>
            </a:pPr>
            <a:r>
              <a:rPr lang="en-US" sz="1300" b="1" dirty="0">
                <a:solidFill>
                  <a:srgbClr val="1D1D1B"/>
                </a:solidFill>
                <a:latin typeface="Calibri" pitchFamily="34" charset="0"/>
                <a:ea typeface="Calibri" pitchFamily="34" charset="-122"/>
                <a:cs typeface="Calibri" pitchFamily="34" charset="-120"/>
              </a:rPr>
              <a:t>Home-decor shops  </a:t>
            </a:r>
            <a:pPr indent="0" marL="0">
              <a:buNone/>
            </a:pPr>
            <a:r>
              <a:rPr lang="en-US" sz="1300" dirty="0">
                <a:solidFill>
                  <a:srgbClr val="5B5A55"/>
                </a:solidFill>
                <a:latin typeface="Calibri" pitchFamily="34" charset="0"/>
                <a:ea typeface="Calibri" pitchFamily="34" charset="-122"/>
                <a:cs typeface="Calibri" pitchFamily="34" charset="-120"/>
              </a:rPr>
              <a:t>30%</a:t>
            </a:r>
            <a:endParaRPr lang="en-US" sz="1300" dirty="0"/>
          </a:p>
          <a:p>
            <a:pPr indent="0" marL="0">
              <a:buNone/>
            </a:pPr>
            <a:r>
              <a:rPr lang="en-US" sz="1300" dirty="0">
                <a:solidFill>
                  <a:srgbClr val="5B5A55"/>
                </a:solidFill>
                <a:latin typeface="Calibri" pitchFamily="34" charset="0"/>
                <a:ea typeface="Calibri" pitchFamily="34" charset="-122"/>
                <a:cs typeface="Calibri" pitchFamily="34" charset="-120"/>
              </a:rPr>
              <a:t>Hanging hearts, antique-white wood, frames</a:t>
            </a:r>
            <a:endParaRPr lang="en-US" sz="1300" dirty="0"/>
          </a:p>
          <a:p>
            <a:pPr indent="0" marL="0">
              <a:buNone/>
            </a:pPr>
            <a:r>
              <a:rPr lang="en-US" sz="1300" i="1" dirty="0">
                <a:solidFill>
                  <a:srgbClr val="1D1D1B"/>
                </a:solidFill>
                <a:latin typeface="Calibri" pitchFamily="34" charset="0"/>
                <a:ea typeface="Calibri" pitchFamily="34" charset="-122"/>
                <a:cs typeface="Calibri" pitchFamily="34" charset="-120"/>
              </a:rPr>
              <a:t>Campaign: Seasonal decoration collections</a:t>
            </a:r>
            <a:endParaRPr lang="en-US" sz="1300" dirty="0"/>
          </a:p>
        </p:txBody>
      </p:sp>
      <p:sp>
        <p:nvSpPr>
          <p:cNvPr id="8" name="Text 5"/>
          <p:cNvSpPr txBox="1"/>
          <p:nvPr/>
        </p:nvSpPr>
        <p:spPr>
          <a:xfrm>
            <a:off x="7058451" y="4105656"/>
            <a:ext cx="4584605" cy="1097280"/>
          </a:xfrm>
          <a:prstGeom prst="rect">
            <a:avLst/>
          </a:prstGeom>
          <a:noFill/>
          <a:ln/>
        </p:spPr>
        <p:txBody>
          <a:bodyPr wrap="square" lIns="0" tIns="0" rIns="0" bIns="0" rtlCol="0" anchor="t"/>
          <a:lstStyle/>
          <a:p>
            <a:pPr indent="0" marL="0">
              <a:buNone/>
            </a:pPr>
            <a:r>
              <a:rPr lang="en-US" sz="1300" b="1" dirty="0">
                <a:solidFill>
                  <a:srgbClr val="1D1D1B"/>
                </a:solidFill>
                <a:latin typeface="Calibri" pitchFamily="34" charset="0"/>
                <a:ea typeface="Calibri" pitchFamily="34" charset="-122"/>
                <a:cs typeface="Calibri" pitchFamily="34" charset="-120"/>
              </a:rPr>
              <a:t>Children's gift shops  </a:t>
            </a:r>
            <a:pPr indent="0" marL="0">
              <a:buNone/>
            </a:pPr>
            <a:r>
              <a:rPr lang="en-US" sz="1300" dirty="0">
                <a:solidFill>
                  <a:srgbClr val="5B5A55"/>
                </a:solidFill>
                <a:latin typeface="Calibri" pitchFamily="34" charset="0"/>
                <a:ea typeface="Calibri" pitchFamily="34" charset="-122"/>
                <a:cs typeface="Calibri" pitchFamily="34" charset="-120"/>
              </a:rPr>
              <a:t>26%</a:t>
            </a:r>
            <a:endParaRPr lang="en-US" sz="1300" dirty="0"/>
          </a:p>
          <a:p>
            <a:pPr indent="0" marL="0">
              <a:buNone/>
            </a:pPr>
            <a:r>
              <a:rPr lang="en-US" sz="1300" dirty="0">
                <a:solidFill>
                  <a:srgbClr val="5B5A55"/>
                </a:solidFill>
                <a:latin typeface="Calibri" pitchFamily="34" charset="0"/>
                <a:ea typeface="Calibri" pitchFamily="34" charset="-122"/>
                <a:cs typeface="Calibri" pitchFamily="34" charset="-120"/>
              </a:rPr>
              <a:t>Lunch boxes, plasters in tins, paint sets; 18% overseas</a:t>
            </a:r>
            <a:endParaRPr lang="en-US" sz="1300" dirty="0"/>
          </a:p>
          <a:p>
            <a:pPr indent="0" marL="0">
              <a:buNone/>
            </a:pPr>
            <a:r>
              <a:rPr lang="en-US" sz="1300" i="1" dirty="0">
                <a:solidFill>
                  <a:srgbClr val="1D1D1B"/>
                </a:solidFill>
                <a:latin typeface="Calibri" pitchFamily="34" charset="0"/>
                <a:ea typeface="Calibri" pitchFamily="34" charset="-122"/>
                <a:cs typeface="Calibri" pitchFamily="34" charset="-120"/>
              </a:rPr>
              <a:t>Campaign: Back-to-school and kids' ranges; EU delivery offers</a:t>
            </a:r>
            <a:endParaRPr lang="en-US" sz="1300" dirty="0"/>
          </a:p>
        </p:txBody>
      </p:sp>
      <p:sp>
        <p:nvSpPr>
          <p:cNvPr id="9" name="Text 6"/>
          <p:cNvSpPr txBox="1"/>
          <p:nvPr/>
        </p:nvSpPr>
        <p:spPr>
          <a:xfrm>
            <a:off x="7058451" y="5312664"/>
            <a:ext cx="4584605" cy="1097280"/>
          </a:xfrm>
          <a:prstGeom prst="rect">
            <a:avLst/>
          </a:prstGeom>
          <a:noFill/>
          <a:ln/>
        </p:spPr>
        <p:txBody>
          <a:bodyPr wrap="square" lIns="0" tIns="0" rIns="0" bIns="0" rtlCol="0" anchor="t"/>
          <a:lstStyle/>
          <a:p>
            <a:pPr indent="0" marL="0">
              <a:buNone/>
            </a:pPr>
            <a:r>
              <a:rPr lang="en-US" sz="1300" b="1" dirty="0">
                <a:solidFill>
                  <a:srgbClr val="1D1D1B"/>
                </a:solidFill>
                <a:latin typeface="Calibri" pitchFamily="34" charset="0"/>
                <a:ea typeface="Calibri" pitchFamily="34" charset="-122"/>
                <a:cs typeface="Calibri" pitchFamily="34" charset="-120"/>
              </a:rPr>
              <a:t>One-off small buyers  </a:t>
            </a:r>
            <a:pPr indent="0" marL="0">
              <a:buNone/>
            </a:pPr>
            <a:r>
              <a:rPr lang="en-US" sz="1300" dirty="0">
                <a:solidFill>
                  <a:srgbClr val="5B5A55"/>
                </a:solidFill>
                <a:latin typeface="Calibri" pitchFamily="34" charset="0"/>
                <a:ea typeface="Calibri" pitchFamily="34" charset="-122"/>
                <a:cs typeface="Calibri" pitchFamily="34" charset="-120"/>
              </a:rPr>
              <a:t>10%</a:t>
            </a:r>
            <a:endParaRPr lang="en-US" sz="1300" dirty="0"/>
          </a:p>
          <a:p>
            <a:pPr indent="0" marL="0">
              <a:buNone/>
            </a:pPr>
            <a:r>
              <a:rPr lang="en-US" sz="1300" dirty="0">
                <a:solidFill>
                  <a:srgbClr val="5B5A55"/>
                </a:solidFill>
                <a:latin typeface="Calibri" pitchFamily="34" charset="0"/>
                <a:ea typeface="Calibri" pitchFamily="34" charset="-122"/>
                <a:cs typeface="Calibri" pitchFamily="34" charset="-120"/>
              </a:rPr>
              <a:t>One small order, few products in common</a:t>
            </a:r>
            <a:endParaRPr lang="en-US" sz="1300" dirty="0"/>
          </a:p>
          <a:p>
            <a:pPr indent="0" marL="0">
              <a:buNone/>
            </a:pPr>
            <a:r>
              <a:rPr lang="en-US" sz="1300" i="1" dirty="0">
                <a:solidFill>
                  <a:srgbClr val="1D1D1B"/>
                </a:solidFill>
                <a:latin typeface="Calibri" pitchFamily="34" charset="0"/>
                <a:ea typeface="Calibri" pitchFamily="34" charset="-122"/>
                <a:cs typeface="Calibri" pitchFamily="34" charset="-120"/>
              </a:rPr>
              <a:t>Campaign: A second-order incentive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10058400" y="457200"/>
            <a:ext cx="237744" cy="237744"/>
          </a:xfrm>
          <a:prstGeom prst="ellipse">
            <a:avLst/>
          </a:prstGeom>
          <a:solidFill>
            <a:srgbClr val="C8102E">
              <a:alpha val="48000"/>
            </a:srgbClr>
          </a:solidFill>
          <a:ln/>
        </p:spPr>
      </p:sp>
      <p:sp>
        <p:nvSpPr>
          <p:cNvPr id="3" name="Shape 1"/>
          <p:cNvSpPr/>
          <p:nvPr/>
        </p:nvSpPr>
        <p:spPr>
          <a:xfrm>
            <a:off x="10058400" y="1335024"/>
            <a:ext cx="237744" cy="237744"/>
          </a:xfrm>
          <a:prstGeom prst="ellipse">
            <a:avLst/>
          </a:prstGeom>
          <a:solidFill>
            <a:srgbClr val="C8102E">
              <a:alpha val="48000"/>
            </a:srgbClr>
          </a:solidFill>
          <a:ln/>
        </p:spPr>
      </p:sp>
      <p:sp>
        <p:nvSpPr>
          <p:cNvPr id="4" name="Shape 2"/>
          <p:cNvSpPr/>
          <p:nvPr/>
        </p:nvSpPr>
        <p:spPr>
          <a:xfrm>
            <a:off x="10497312" y="896112"/>
            <a:ext cx="237744" cy="237744"/>
          </a:xfrm>
          <a:prstGeom prst="ellipse">
            <a:avLst/>
          </a:prstGeom>
          <a:solidFill>
            <a:srgbClr val="C8102E">
              <a:alpha val="62000"/>
            </a:srgbClr>
          </a:solidFill>
          <a:ln/>
        </p:spPr>
      </p:sp>
      <p:sp>
        <p:nvSpPr>
          <p:cNvPr id="5" name="Shape 3"/>
          <p:cNvSpPr/>
          <p:nvPr/>
        </p:nvSpPr>
        <p:spPr>
          <a:xfrm>
            <a:off x="10936224" y="457200"/>
            <a:ext cx="237744" cy="237744"/>
          </a:xfrm>
          <a:prstGeom prst="ellipse">
            <a:avLst/>
          </a:prstGeom>
          <a:solidFill>
            <a:srgbClr val="C8102E">
              <a:alpha val="76000"/>
            </a:srgbClr>
          </a:solidFill>
          <a:ln/>
        </p:spPr>
      </p:sp>
      <p:sp>
        <p:nvSpPr>
          <p:cNvPr id="6" name="Shape 4"/>
          <p:cNvSpPr/>
          <p:nvPr/>
        </p:nvSpPr>
        <p:spPr>
          <a:xfrm>
            <a:off x="10936224" y="1335024"/>
            <a:ext cx="237744" cy="237744"/>
          </a:xfrm>
          <a:prstGeom prst="ellipse">
            <a:avLst/>
          </a:prstGeom>
          <a:solidFill>
            <a:srgbClr val="C8102E">
              <a:alpha val="76000"/>
            </a:srgbClr>
          </a:solidFill>
          <a:ln/>
        </p:spPr>
      </p:sp>
      <p:sp>
        <p:nvSpPr>
          <p:cNvPr id="7" name="Shape 5"/>
          <p:cNvSpPr/>
          <p:nvPr/>
        </p:nvSpPr>
        <p:spPr>
          <a:xfrm>
            <a:off x="11375136" y="896112"/>
            <a:ext cx="237744" cy="237744"/>
          </a:xfrm>
          <a:prstGeom prst="ellipse">
            <a:avLst/>
          </a:prstGeom>
          <a:solidFill>
            <a:srgbClr val="C8102E">
              <a:alpha val="90000"/>
            </a:srgbClr>
          </a:solidFill>
          <a:ln/>
        </p:spPr>
      </p:sp>
      <p:sp>
        <p:nvSpPr>
          <p:cNvPr id="8" name="Text 6"/>
          <p:cNvSpPr txBox="1"/>
          <p:nvPr/>
        </p:nvSpPr>
        <p:spPr>
          <a:xfrm>
            <a:off x="731520" y="640080"/>
            <a:ext cx="91440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could go wrong, and what comes next</a:t>
            </a:r>
            <a:endParaRPr lang="en-US" sz="3200" dirty="0"/>
          </a:p>
        </p:txBody>
      </p:sp>
      <p:sp>
        <p:nvSpPr>
          <p:cNvPr id="9" name="Text 7"/>
          <p:cNvSpPr txBox="1"/>
          <p:nvPr/>
        </p:nvSpPr>
        <p:spPr>
          <a:xfrm>
            <a:off x="731520" y="1783080"/>
            <a:ext cx="5120640" cy="320040"/>
          </a:xfrm>
          <a:prstGeom prst="rect">
            <a:avLst/>
          </a:prstGeom>
          <a:noFill/>
          <a:ln/>
        </p:spPr>
        <p:txBody>
          <a:bodyPr wrap="square" lIns="0" tIns="0" rIns="0" bIns="0" rtlCol="0" anchor="ctr"/>
          <a:lstStyle/>
          <a:p>
            <a:pPr indent="0" marL="0">
              <a:buNone/>
            </a:pPr>
            <a:r>
              <a:rPr lang="en-US" sz="1200" b="1" spc="200" kern="0" dirty="0">
                <a:solidFill>
                  <a:srgbClr val="C9D3E6"/>
                </a:solidFill>
                <a:latin typeface="Calibri" pitchFamily="34" charset="0"/>
                <a:ea typeface="Calibri" pitchFamily="34" charset="-122"/>
                <a:cs typeface="Calibri" pitchFamily="34" charset="-120"/>
              </a:rPr>
              <a:t>RISKS</a:t>
            </a:r>
            <a:endParaRPr lang="en-US" sz="1200" dirty="0"/>
          </a:p>
        </p:txBody>
      </p:sp>
      <p:sp>
        <p:nvSpPr>
          <p:cNvPr id="10" name="Text 8"/>
          <p:cNvSpPr txBox="1"/>
          <p:nvPr/>
        </p:nvSpPr>
        <p:spPr>
          <a:xfrm>
            <a:off x="731520" y="2194560"/>
            <a:ext cx="5120640" cy="3657600"/>
          </a:xfrm>
          <a:prstGeom prst="rect">
            <a:avLst/>
          </a:prstGeom>
          <a:noFill/>
          <a:ln/>
        </p:spPr>
        <p:txBody>
          <a:bodyPr wrap="square" lIns="0" tIns="0" rIns="0" bIns="0" rtlCol="0" anchor="t"/>
          <a:lstStyle/>
          <a:p>
            <a:pPr indent="0" marL="0">
              <a:spcAft>
                <a:spcPts val="1600"/>
              </a:spcAft>
              <a:buNone/>
            </a:pPr>
            <a:r>
              <a:rPr lang="en-US" sz="1600" b="1" dirty="0">
                <a:solidFill>
                  <a:srgbClr val="FFFFFF"/>
                </a:solidFill>
                <a:latin typeface="Calibri" pitchFamily="34" charset="0"/>
                <a:ea typeface="Calibri" pitchFamily="34" charset="-122"/>
                <a:cs typeface="Calibri" pitchFamily="34" charset="-120"/>
              </a:rPr>
              <a:t>New customers and products. </a:t>
            </a:r>
            <a:pPr indent="0" marL="0">
              <a:spcAft>
                <a:spcPts val="1600"/>
              </a:spcAft>
              <a:buNone/>
            </a:pPr>
            <a:r>
              <a:rPr lang="en-US" sz="1600" dirty="0">
                <a:solidFill>
                  <a:srgbClr val="C9D3E6"/>
                </a:solidFill>
                <a:latin typeface="Calibri" pitchFamily="34" charset="0"/>
                <a:ea typeface="Calibri" pitchFamily="34" charset="-122"/>
                <a:cs typeface="Calibri" pitchFamily="34" charset="-120"/>
              </a:rPr>
              <a:t>The model knows nothing about them; 15% of test-period purchases came from customers with no history. Show them best sellers.</a:t>
            </a:r>
            <a:endParaRPr lang="en-US" sz="1600" dirty="0"/>
          </a:p>
          <a:p>
            <a:pPr indent="0" marL="0">
              <a:spcAft>
                <a:spcPts val="1600"/>
              </a:spcAft>
              <a:buNone/>
            </a:pPr>
            <a:r>
              <a:rPr lang="en-US" sz="1600" b="1" dirty="0">
                <a:solidFill>
                  <a:srgbClr val="FFFFFF"/>
                </a:solidFill>
                <a:latin typeface="Calibri" pitchFamily="34" charset="0"/>
                <a:ea typeface="Calibri" pitchFamily="34" charset="-122"/>
                <a:cs typeface="Calibri" pitchFamily="34" charset="-120"/>
              </a:rPr>
              <a:t>Seasonality. </a:t>
            </a:r>
            <a:pPr indent="0" marL="0">
              <a:spcAft>
                <a:spcPts val="1600"/>
              </a:spcAft>
              <a:buNone/>
            </a:pPr>
            <a:r>
              <a:rPr lang="en-US" sz="1600" dirty="0">
                <a:solidFill>
                  <a:srgbClr val="C9D3E6"/>
                </a:solidFill>
                <a:latin typeface="Calibri" pitchFamily="34" charset="0"/>
                <a:ea typeface="Calibri" pitchFamily="34" charset="-122"/>
                <a:cs typeface="Calibri" pitchFamily="34" charset="-120"/>
              </a:rPr>
              <a:t>Tested on the pre-Christmas peak; quieter months may differ.</a:t>
            </a:r>
            <a:endParaRPr lang="en-US" sz="1600" dirty="0"/>
          </a:p>
          <a:p>
            <a:pPr indent="0" marL="0">
              <a:spcAft>
                <a:spcPts val="1600"/>
              </a:spcAft>
              <a:buNone/>
            </a:pPr>
            <a:r>
              <a:rPr lang="en-US" sz="1600" b="1" dirty="0">
                <a:solidFill>
                  <a:srgbClr val="FFFFFF"/>
                </a:solidFill>
                <a:latin typeface="Calibri" pitchFamily="34" charset="0"/>
                <a:ea typeface="Calibri" pitchFamily="34" charset="-122"/>
                <a:cs typeface="Calibri" pitchFamily="34" charset="-120"/>
              </a:rPr>
              <a:t>Popularity. </a:t>
            </a:r>
            <a:pPr indent="0" marL="0">
              <a:spcAft>
                <a:spcPts val="1600"/>
              </a:spcAft>
              <a:buNone/>
            </a:pPr>
            <a:r>
              <a:rPr lang="en-US" sz="1600" dirty="0">
                <a:solidFill>
                  <a:srgbClr val="C9D3E6"/>
                </a:solidFill>
                <a:latin typeface="Calibri" pitchFamily="34" charset="0"/>
                <a:ea typeface="Calibri" pitchFamily="34" charset="-122"/>
                <a:cs typeface="Calibri" pitchFamily="34" charset="-120"/>
              </a:rPr>
              <a:t>The model leans on what sells well.</a:t>
            </a:r>
            <a:endParaRPr lang="en-US" sz="1600" dirty="0"/>
          </a:p>
          <a:p>
            <a:pPr indent="0" marL="0">
              <a:spcAft>
                <a:spcPts val="1600"/>
              </a:spcAft>
              <a:buNone/>
            </a:pPr>
            <a:r>
              <a:rPr lang="en-US" sz="1600" b="1" dirty="0">
                <a:solidFill>
                  <a:srgbClr val="FFFFFF"/>
                </a:solidFill>
                <a:latin typeface="Calibri" pitchFamily="34" charset="0"/>
                <a:ea typeface="Calibri" pitchFamily="34" charset="-122"/>
                <a:cs typeface="Calibri" pitchFamily="34" charset="-120"/>
              </a:rPr>
              <a:t>Data gaps. </a:t>
            </a:r>
            <a:pPr indent="0" marL="0">
              <a:spcAft>
                <a:spcPts val="1600"/>
              </a:spcAft>
              <a:buNone/>
            </a:pPr>
            <a:r>
              <a:rPr lang="en-US" sz="1600" dirty="0">
                <a:solidFill>
                  <a:srgbClr val="C9D3E6"/>
                </a:solidFill>
                <a:latin typeface="Calibri" pitchFamily="34" charset="0"/>
                <a:ea typeface="Calibri" pitchFamily="34" charset="-122"/>
                <a:cs typeface="Calibri" pitchFamily="34" charset="-120"/>
              </a:rPr>
              <a:t>23% of order lines have no customer ID and are not used.</a:t>
            </a:r>
            <a:endParaRPr lang="en-US" sz="1600" dirty="0"/>
          </a:p>
        </p:txBody>
      </p:sp>
      <p:sp>
        <p:nvSpPr>
          <p:cNvPr id="11" name="Text 9"/>
          <p:cNvSpPr txBox="1"/>
          <p:nvPr/>
        </p:nvSpPr>
        <p:spPr>
          <a:xfrm>
            <a:off x="6400800" y="1783080"/>
            <a:ext cx="5120640" cy="320040"/>
          </a:xfrm>
          <a:prstGeom prst="rect">
            <a:avLst/>
          </a:prstGeom>
          <a:noFill/>
          <a:ln/>
        </p:spPr>
        <p:txBody>
          <a:bodyPr wrap="square" lIns="0" tIns="0" rIns="0" bIns="0" rtlCol="0" anchor="ctr"/>
          <a:lstStyle/>
          <a:p>
            <a:pPr indent="0" marL="0">
              <a:buNone/>
            </a:pPr>
            <a:r>
              <a:rPr lang="en-US" sz="1200" b="1" spc="200" kern="0" dirty="0">
                <a:solidFill>
                  <a:srgbClr val="C9D3E6"/>
                </a:solidFill>
                <a:latin typeface="Calibri" pitchFamily="34" charset="0"/>
                <a:ea typeface="Calibri" pitchFamily="34" charset="-122"/>
                <a:cs typeface="Calibri" pitchFamily="34" charset="-120"/>
              </a:rPr>
              <a:t>NEXT STEPS</a:t>
            </a:r>
            <a:endParaRPr lang="en-US" sz="1200" dirty="0"/>
          </a:p>
        </p:txBody>
      </p:sp>
      <p:sp>
        <p:nvSpPr>
          <p:cNvPr id="12" name="Text 10"/>
          <p:cNvSpPr txBox="1"/>
          <p:nvPr/>
        </p:nvSpPr>
        <p:spPr>
          <a:xfrm>
            <a:off x="6400800" y="2194560"/>
            <a:ext cx="5120640" cy="3657600"/>
          </a:xfrm>
          <a:prstGeom prst="rect">
            <a:avLst/>
          </a:prstGeom>
          <a:noFill/>
          <a:ln/>
        </p:spPr>
        <p:txBody>
          <a:bodyPr wrap="square" lIns="0" tIns="0" rIns="0" bIns="0" rtlCol="0" anchor="t"/>
          <a:lstStyle/>
          <a:p>
            <a:pPr indent="0" marL="0">
              <a:spcAft>
                <a:spcPts val="1600"/>
              </a:spcAft>
              <a:buNone/>
            </a:pPr>
            <a:r>
              <a:rPr lang="en-US" sz="1600" b="1" dirty="0">
                <a:solidFill>
                  <a:srgbClr val="FFFFFF"/>
                </a:solidFill>
                <a:latin typeface="Calibri" pitchFamily="34" charset="0"/>
                <a:ea typeface="Calibri" pitchFamily="34" charset="-122"/>
                <a:cs typeface="Calibri" pitchFamily="34" charset="-120"/>
              </a:rPr>
              <a:t>Test it live. </a:t>
            </a:r>
            <a:pPr indent="0" marL="0">
              <a:spcAft>
                <a:spcPts val="1600"/>
              </a:spcAft>
              <a:buNone/>
            </a:pPr>
            <a:r>
              <a:rPr lang="en-US" sz="1600" dirty="0">
                <a:solidFill>
                  <a:srgbClr val="C9D3E6"/>
                </a:solidFill>
                <a:latin typeface="Calibri" pitchFamily="34" charset="0"/>
                <a:ea typeface="Calibri" pitchFamily="34" charset="-122"/>
                <a:cs typeface="Calibri" pitchFamily="34" charset="-120"/>
              </a:rPr>
              <a:t>A 4-week test on product pages against best sellers, measuring clicks and added revenue.</a:t>
            </a:r>
            <a:endParaRPr lang="en-US" sz="1600" dirty="0"/>
          </a:p>
          <a:p>
            <a:pPr indent="0" marL="0">
              <a:spcAft>
                <a:spcPts val="1600"/>
              </a:spcAft>
              <a:buNone/>
            </a:pPr>
            <a:r>
              <a:rPr lang="en-US" sz="1600" b="1" dirty="0">
                <a:solidFill>
                  <a:srgbClr val="FFFFFF"/>
                </a:solidFill>
                <a:latin typeface="Calibri" pitchFamily="34" charset="0"/>
                <a:ea typeface="Calibri" pitchFamily="34" charset="-122"/>
                <a:cs typeface="Calibri" pitchFamily="34" charset="-120"/>
              </a:rPr>
              <a:t>Run it nightly. </a:t>
            </a:r>
            <a:pPr indent="0" marL="0">
              <a:spcAft>
                <a:spcPts val="1600"/>
              </a:spcAft>
              <a:buNone/>
            </a:pPr>
            <a:r>
              <a:rPr lang="en-US" sz="1600" dirty="0">
                <a:solidFill>
                  <a:srgbClr val="C9D3E6"/>
                </a:solidFill>
                <a:latin typeface="Calibri" pitchFamily="34" charset="0"/>
                <a:ea typeface="Calibri" pitchFamily="34" charset="-122"/>
                <a:cs typeface="Calibri" pitchFamily="34" charset="-120"/>
              </a:rPr>
              <a:t>Schedule python nightly_job.py and re-check the hit rate every month.</a:t>
            </a:r>
            <a:endParaRPr lang="en-US" sz="1600" dirty="0"/>
          </a:p>
          <a:p>
            <a:pPr indent="0" marL="0">
              <a:spcAft>
                <a:spcPts val="1600"/>
              </a:spcAft>
              <a:buNone/>
            </a:pPr>
            <a:r>
              <a:rPr lang="en-US" sz="1600" b="1" dirty="0">
                <a:solidFill>
                  <a:srgbClr val="FFFFFF"/>
                </a:solidFill>
                <a:latin typeface="Calibri" pitchFamily="34" charset="0"/>
                <a:ea typeface="Calibri" pitchFamily="34" charset="-122"/>
                <a:cs typeface="Calibri" pitchFamily="34" charset="-120"/>
              </a:rPr>
              <a:t>Cover new products. </a:t>
            </a:r>
            <a:pPr indent="0" marL="0">
              <a:spcAft>
                <a:spcPts val="1600"/>
              </a:spcAft>
              <a:buNone/>
            </a:pPr>
            <a:r>
              <a:rPr lang="en-US" sz="1600" dirty="0">
                <a:solidFill>
                  <a:srgbClr val="C9D3E6"/>
                </a:solidFill>
                <a:latin typeface="Calibri" pitchFamily="34" charset="0"/>
                <a:ea typeface="Calibri" pitchFamily="34" charset="-122"/>
                <a:cs typeface="Calibri" pitchFamily="34" charset="-120"/>
              </a:rPr>
              <a:t>Fall back to items from the same range until they have buyers.</a:t>
            </a:r>
            <a:endParaRPr lang="en-US" sz="1600" dirty="0"/>
          </a:p>
        </p:txBody>
      </p:sp>
      <p:sp>
        <p:nvSpPr>
          <p:cNvPr id="13" name="Text 11"/>
          <p:cNvSpPr txBox="1"/>
          <p:nvPr/>
        </p:nvSpPr>
        <p:spPr>
          <a:xfrm>
            <a:off x="731520" y="6080760"/>
            <a:ext cx="10515600" cy="320040"/>
          </a:xfrm>
          <a:prstGeom prst="rect">
            <a:avLst/>
          </a:prstGeom>
          <a:noFill/>
          <a:ln/>
        </p:spPr>
        <p:txBody>
          <a:bodyPr wrap="square" lIns="0" tIns="0" rIns="0" bIns="0" rtlCol="0" anchor="ctr"/>
          <a:lstStyle/>
          <a:p>
            <a:pPr indent="0" marL="0">
              <a:buNone/>
            </a:pPr>
            <a:r>
              <a:rPr lang="en-US" sz="1200" dirty="0">
                <a:solidFill>
                  <a:srgbClr val="C9D3E6"/>
                </a:solidFill>
                <a:latin typeface="Calibri" pitchFamily="34" charset="0"/>
                <a:ea typeface="Calibri" pitchFamily="34" charset="-122"/>
                <a:cs typeface="Calibri" pitchFamily="34" charset="-120"/>
              </a:rPr>
              <a:t>Code, reports and memo: github.com/tungnguyenasu/DE-ML-project-Customers-Like-You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Customers Like You</dc:title>
  <dc:subject>PptxGenJS Presentation</dc:subject>
  <dc:creator>Tung Nguyen</dc:creator>
  <cp:lastModifiedBy>Tung Nguyen</cp:lastModifiedBy>
  <cp:revision>1</cp:revision>
  <dcterms:created xsi:type="dcterms:W3CDTF">2026-10-13T02:54:21Z</dcterms:created>
  <dcterms:modified xsi:type="dcterms:W3CDTF">2026-10-13T02:54:21Z</dcterms:modified>
</cp:coreProperties>
</file>